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5" r:id="rId9"/>
    <p:sldId id="266" r:id="rId10"/>
    <p:sldId id="268" r:id="rId11"/>
    <p:sldId id="269" r:id="rId12"/>
    <p:sldId id="271" r:id="rId13"/>
    <p:sldId id="267"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03EBAFF4-62C2-4F89-A92A-9591ABF106E4}">
          <p14:sldIdLst>
            <p14:sldId id="256"/>
            <p14:sldId id="257"/>
            <p14:sldId id="258"/>
            <p14:sldId id="259"/>
            <p14:sldId id="261"/>
            <p14:sldId id="262"/>
            <p14:sldId id="263"/>
            <p14:sldId id="265"/>
            <p14:sldId id="266"/>
            <p14:sldId id="268"/>
            <p14:sldId id="269"/>
            <p14:sldId id="271"/>
            <p14:sldId id="267"/>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20" d="100"/>
          <a:sy n="120" d="100"/>
        </p:scale>
        <p:origin x="67" y="-6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AF218-D89D-3E73-0063-3ED4DC83D9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0ECF24-AC1D-EC0E-95F4-55C59077F4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21CD778-B012-74A8-7AA4-4E7AD8AD94D8}"/>
              </a:ext>
            </a:extLst>
          </p:cNvPr>
          <p:cNvSpPr>
            <a:spLocks noGrp="1"/>
          </p:cNvSpPr>
          <p:nvPr>
            <p:ph type="dt" sz="half" idx="10"/>
          </p:nvPr>
        </p:nvSpPr>
        <p:spPr/>
        <p:txBody>
          <a:bodyPr/>
          <a:lstStyle/>
          <a:p>
            <a:fld id="{26E5468F-2D82-476A-A6F5-6AEF184246DF}" type="datetimeFigureOut">
              <a:rPr lang="en-US" smtClean="0"/>
              <a:t>5/13/2026</a:t>
            </a:fld>
            <a:endParaRPr lang="en-US"/>
          </a:p>
        </p:txBody>
      </p:sp>
      <p:sp>
        <p:nvSpPr>
          <p:cNvPr id="5" name="Footer Placeholder 4">
            <a:extLst>
              <a:ext uri="{FF2B5EF4-FFF2-40B4-BE49-F238E27FC236}">
                <a16:creationId xmlns:a16="http://schemas.microsoft.com/office/drawing/2014/main" id="{AC97333A-5089-BF8A-7683-20826F60AA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23C7D9-B6D6-245A-7BC5-2174C625AD1F}"/>
              </a:ext>
            </a:extLst>
          </p:cNvPr>
          <p:cNvSpPr>
            <a:spLocks noGrp="1"/>
          </p:cNvSpPr>
          <p:nvPr>
            <p:ph type="sldNum" sz="quarter" idx="12"/>
          </p:nvPr>
        </p:nvSpPr>
        <p:spPr/>
        <p:txBody>
          <a:bodyPr/>
          <a:lstStyle/>
          <a:p>
            <a:fld id="{363EBCFC-8110-4776-A9BB-3C072795F11B}" type="slidenum">
              <a:rPr lang="en-US" smtClean="0"/>
              <a:t>‹#›</a:t>
            </a:fld>
            <a:endParaRPr lang="en-US"/>
          </a:p>
        </p:txBody>
      </p:sp>
    </p:spTree>
    <p:extLst>
      <p:ext uri="{BB962C8B-B14F-4D97-AF65-F5344CB8AC3E}">
        <p14:creationId xmlns:p14="http://schemas.microsoft.com/office/powerpoint/2010/main" val="3606892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F3623-A807-69FF-5291-D42F1FDFA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60C163-D117-FA39-C2F8-E9C9ABCA60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C2915E-1853-8406-3BB0-ED0DF8A7DDA8}"/>
              </a:ext>
            </a:extLst>
          </p:cNvPr>
          <p:cNvSpPr>
            <a:spLocks noGrp="1"/>
          </p:cNvSpPr>
          <p:nvPr>
            <p:ph type="dt" sz="half" idx="10"/>
          </p:nvPr>
        </p:nvSpPr>
        <p:spPr/>
        <p:txBody>
          <a:bodyPr/>
          <a:lstStyle/>
          <a:p>
            <a:fld id="{26E5468F-2D82-476A-A6F5-6AEF184246DF}" type="datetimeFigureOut">
              <a:rPr lang="en-US" smtClean="0"/>
              <a:t>5/13/2026</a:t>
            </a:fld>
            <a:endParaRPr lang="en-US"/>
          </a:p>
        </p:txBody>
      </p:sp>
      <p:sp>
        <p:nvSpPr>
          <p:cNvPr id="5" name="Footer Placeholder 4">
            <a:extLst>
              <a:ext uri="{FF2B5EF4-FFF2-40B4-BE49-F238E27FC236}">
                <a16:creationId xmlns:a16="http://schemas.microsoft.com/office/drawing/2014/main" id="{6D0220AC-9CF6-188D-F097-21F8BC9DC9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49C46C-5328-54E9-B8C0-BDD02BC916AD}"/>
              </a:ext>
            </a:extLst>
          </p:cNvPr>
          <p:cNvSpPr>
            <a:spLocks noGrp="1"/>
          </p:cNvSpPr>
          <p:nvPr>
            <p:ph type="sldNum" sz="quarter" idx="12"/>
          </p:nvPr>
        </p:nvSpPr>
        <p:spPr/>
        <p:txBody>
          <a:bodyPr/>
          <a:lstStyle/>
          <a:p>
            <a:fld id="{363EBCFC-8110-4776-A9BB-3C072795F11B}" type="slidenum">
              <a:rPr lang="en-US" smtClean="0"/>
              <a:t>‹#›</a:t>
            </a:fld>
            <a:endParaRPr lang="en-US"/>
          </a:p>
        </p:txBody>
      </p:sp>
    </p:spTree>
    <p:extLst>
      <p:ext uri="{BB962C8B-B14F-4D97-AF65-F5344CB8AC3E}">
        <p14:creationId xmlns:p14="http://schemas.microsoft.com/office/powerpoint/2010/main" val="361803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3C0A3-65E2-B669-A50E-81C8F5D4E4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BC457E-A71C-824D-A505-58CBFBD5F3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810E5C-CCE5-C0A1-01C6-427781C2A2CD}"/>
              </a:ext>
            </a:extLst>
          </p:cNvPr>
          <p:cNvSpPr>
            <a:spLocks noGrp="1"/>
          </p:cNvSpPr>
          <p:nvPr>
            <p:ph type="dt" sz="half" idx="10"/>
          </p:nvPr>
        </p:nvSpPr>
        <p:spPr/>
        <p:txBody>
          <a:bodyPr/>
          <a:lstStyle/>
          <a:p>
            <a:fld id="{26E5468F-2D82-476A-A6F5-6AEF184246DF}" type="datetimeFigureOut">
              <a:rPr lang="en-US" smtClean="0"/>
              <a:t>5/13/2026</a:t>
            </a:fld>
            <a:endParaRPr lang="en-US"/>
          </a:p>
        </p:txBody>
      </p:sp>
      <p:sp>
        <p:nvSpPr>
          <p:cNvPr id="5" name="Footer Placeholder 4">
            <a:extLst>
              <a:ext uri="{FF2B5EF4-FFF2-40B4-BE49-F238E27FC236}">
                <a16:creationId xmlns:a16="http://schemas.microsoft.com/office/drawing/2014/main" id="{9A1C3000-D289-4C2B-2D39-1767A7D450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85A27A-5A25-69E3-EC6E-7BD9FFBDE970}"/>
              </a:ext>
            </a:extLst>
          </p:cNvPr>
          <p:cNvSpPr>
            <a:spLocks noGrp="1"/>
          </p:cNvSpPr>
          <p:nvPr>
            <p:ph type="sldNum" sz="quarter" idx="12"/>
          </p:nvPr>
        </p:nvSpPr>
        <p:spPr/>
        <p:txBody>
          <a:bodyPr/>
          <a:lstStyle/>
          <a:p>
            <a:fld id="{363EBCFC-8110-4776-A9BB-3C072795F11B}" type="slidenum">
              <a:rPr lang="en-US" smtClean="0"/>
              <a:t>‹#›</a:t>
            </a:fld>
            <a:endParaRPr lang="en-US"/>
          </a:p>
        </p:txBody>
      </p:sp>
    </p:spTree>
    <p:extLst>
      <p:ext uri="{BB962C8B-B14F-4D97-AF65-F5344CB8AC3E}">
        <p14:creationId xmlns:p14="http://schemas.microsoft.com/office/powerpoint/2010/main" val="2800390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DBE69-1FEE-8101-E944-9D87589D51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6D6D45-2F9E-94D2-3FE7-17B3E1AE36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2738A4-FD8F-8049-06B7-FE9F11D63F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DED2EB-E967-33B5-CC21-3C702395FC3F}"/>
              </a:ext>
            </a:extLst>
          </p:cNvPr>
          <p:cNvSpPr>
            <a:spLocks noGrp="1"/>
          </p:cNvSpPr>
          <p:nvPr>
            <p:ph type="dt" sz="half" idx="10"/>
          </p:nvPr>
        </p:nvSpPr>
        <p:spPr/>
        <p:txBody>
          <a:bodyPr/>
          <a:lstStyle/>
          <a:p>
            <a:fld id="{26E5468F-2D82-476A-A6F5-6AEF184246DF}" type="datetimeFigureOut">
              <a:rPr lang="en-US" smtClean="0"/>
              <a:t>5/13/2026</a:t>
            </a:fld>
            <a:endParaRPr lang="en-US"/>
          </a:p>
        </p:txBody>
      </p:sp>
      <p:sp>
        <p:nvSpPr>
          <p:cNvPr id="6" name="Footer Placeholder 5">
            <a:extLst>
              <a:ext uri="{FF2B5EF4-FFF2-40B4-BE49-F238E27FC236}">
                <a16:creationId xmlns:a16="http://schemas.microsoft.com/office/drawing/2014/main" id="{B15A9CE7-3A5E-067D-5EDD-0359847423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954648-B41A-8505-58C0-5CCC8F34DC02}"/>
              </a:ext>
            </a:extLst>
          </p:cNvPr>
          <p:cNvSpPr>
            <a:spLocks noGrp="1"/>
          </p:cNvSpPr>
          <p:nvPr>
            <p:ph type="sldNum" sz="quarter" idx="12"/>
          </p:nvPr>
        </p:nvSpPr>
        <p:spPr/>
        <p:txBody>
          <a:bodyPr/>
          <a:lstStyle/>
          <a:p>
            <a:fld id="{363EBCFC-8110-4776-A9BB-3C072795F11B}" type="slidenum">
              <a:rPr lang="en-US" smtClean="0"/>
              <a:t>‹#›</a:t>
            </a:fld>
            <a:endParaRPr lang="en-US"/>
          </a:p>
        </p:txBody>
      </p:sp>
    </p:spTree>
    <p:extLst>
      <p:ext uri="{BB962C8B-B14F-4D97-AF65-F5344CB8AC3E}">
        <p14:creationId xmlns:p14="http://schemas.microsoft.com/office/powerpoint/2010/main" val="483602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C0ED6-B454-0433-B94D-80057174E3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649BD6-D07A-7E2E-BEAB-32351780F7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856AD9-D073-BEAC-9E0A-F7D0E503EB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5C946F-261F-50ED-7BC8-72A82256FA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662F6C-B9AD-C1E9-C792-BAF2283170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1E9182-ACC6-179D-C357-2D7DD46EB691}"/>
              </a:ext>
            </a:extLst>
          </p:cNvPr>
          <p:cNvSpPr>
            <a:spLocks noGrp="1"/>
          </p:cNvSpPr>
          <p:nvPr>
            <p:ph type="dt" sz="half" idx="10"/>
          </p:nvPr>
        </p:nvSpPr>
        <p:spPr/>
        <p:txBody>
          <a:bodyPr/>
          <a:lstStyle/>
          <a:p>
            <a:fld id="{26E5468F-2D82-476A-A6F5-6AEF184246DF}" type="datetimeFigureOut">
              <a:rPr lang="en-US" smtClean="0"/>
              <a:t>5/13/2026</a:t>
            </a:fld>
            <a:endParaRPr lang="en-US"/>
          </a:p>
        </p:txBody>
      </p:sp>
      <p:sp>
        <p:nvSpPr>
          <p:cNvPr id="8" name="Footer Placeholder 7">
            <a:extLst>
              <a:ext uri="{FF2B5EF4-FFF2-40B4-BE49-F238E27FC236}">
                <a16:creationId xmlns:a16="http://schemas.microsoft.com/office/drawing/2014/main" id="{90EA26D3-D8EA-ECBF-7873-4D2D70C487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088719-5E62-B21F-6D3B-677CEAD669CA}"/>
              </a:ext>
            </a:extLst>
          </p:cNvPr>
          <p:cNvSpPr>
            <a:spLocks noGrp="1"/>
          </p:cNvSpPr>
          <p:nvPr>
            <p:ph type="sldNum" sz="quarter" idx="12"/>
          </p:nvPr>
        </p:nvSpPr>
        <p:spPr/>
        <p:txBody>
          <a:bodyPr/>
          <a:lstStyle/>
          <a:p>
            <a:fld id="{363EBCFC-8110-4776-A9BB-3C072795F11B}" type="slidenum">
              <a:rPr lang="en-US" smtClean="0"/>
              <a:t>‹#›</a:t>
            </a:fld>
            <a:endParaRPr lang="en-US"/>
          </a:p>
        </p:txBody>
      </p:sp>
    </p:spTree>
    <p:extLst>
      <p:ext uri="{BB962C8B-B14F-4D97-AF65-F5344CB8AC3E}">
        <p14:creationId xmlns:p14="http://schemas.microsoft.com/office/powerpoint/2010/main" val="3364505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745AD-FD2B-AAE1-F0DD-F69B1F009A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1071A1-6766-F6DB-8CEA-BFD592ACE05D}"/>
              </a:ext>
            </a:extLst>
          </p:cNvPr>
          <p:cNvSpPr>
            <a:spLocks noGrp="1"/>
          </p:cNvSpPr>
          <p:nvPr>
            <p:ph type="dt" sz="half" idx="10"/>
          </p:nvPr>
        </p:nvSpPr>
        <p:spPr/>
        <p:txBody>
          <a:bodyPr/>
          <a:lstStyle/>
          <a:p>
            <a:fld id="{26E5468F-2D82-476A-A6F5-6AEF184246DF}" type="datetimeFigureOut">
              <a:rPr lang="en-US" smtClean="0"/>
              <a:t>5/13/2026</a:t>
            </a:fld>
            <a:endParaRPr lang="en-US"/>
          </a:p>
        </p:txBody>
      </p:sp>
      <p:sp>
        <p:nvSpPr>
          <p:cNvPr id="4" name="Footer Placeholder 3">
            <a:extLst>
              <a:ext uri="{FF2B5EF4-FFF2-40B4-BE49-F238E27FC236}">
                <a16:creationId xmlns:a16="http://schemas.microsoft.com/office/drawing/2014/main" id="{FE47A90A-237B-8D3D-9B10-A0B71CFBFFD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DB65CE-1047-B083-1379-7AA7F288374E}"/>
              </a:ext>
            </a:extLst>
          </p:cNvPr>
          <p:cNvSpPr>
            <a:spLocks noGrp="1"/>
          </p:cNvSpPr>
          <p:nvPr>
            <p:ph type="sldNum" sz="quarter" idx="12"/>
          </p:nvPr>
        </p:nvSpPr>
        <p:spPr/>
        <p:txBody>
          <a:bodyPr/>
          <a:lstStyle/>
          <a:p>
            <a:fld id="{363EBCFC-8110-4776-A9BB-3C072795F11B}" type="slidenum">
              <a:rPr lang="en-US" smtClean="0"/>
              <a:t>‹#›</a:t>
            </a:fld>
            <a:endParaRPr lang="en-US"/>
          </a:p>
        </p:txBody>
      </p:sp>
    </p:spTree>
    <p:extLst>
      <p:ext uri="{BB962C8B-B14F-4D97-AF65-F5344CB8AC3E}">
        <p14:creationId xmlns:p14="http://schemas.microsoft.com/office/powerpoint/2010/main" val="68844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D745B7-C69E-E760-0879-8442F57C90C9}"/>
              </a:ext>
            </a:extLst>
          </p:cNvPr>
          <p:cNvSpPr>
            <a:spLocks noGrp="1"/>
          </p:cNvSpPr>
          <p:nvPr>
            <p:ph type="dt" sz="half" idx="10"/>
          </p:nvPr>
        </p:nvSpPr>
        <p:spPr/>
        <p:txBody>
          <a:bodyPr/>
          <a:lstStyle/>
          <a:p>
            <a:fld id="{26E5468F-2D82-476A-A6F5-6AEF184246DF}" type="datetimeFigureOut">
              <a:rPr lang="en-US" smtClean="0"/>
              <a:t>5/13/2026</a:t>
            </a:fld>
            <a:endParaRPr lang="en-US"/>
          </a:p>
        </p:txBody>
      </p:sp>
      <p:sp>
        <p:nvSpPr>
          <p:cNvPr id="3" name="Footer Placeholder 2">
            <a:extLst>
              <a:ext uri="{FF2B5EF4-FFF2-40B4-BE49-F238E27FC236}">
                <a16:creationId xmlns:a16="http://schemas.microsoft.com/office/drawing/2014/main" id="{BC93A735-6466-71F2-686E-501B83DDEC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05E956-F929-BC76-C0ED-1DE827D1871C}"/>
              </a:ext>
            </a:extLst>
          </p:cNvPr>
          <p:cNvSpPr>
            <a:spLocks noGrp="1"/>
          </p:cNvSpPr>
          <p:nvPr>
            <p:ph type="sldNum" sz="quarter" idx="12"/>
          </p:nvPr>
        </p:nvSpPr>
        <p:spPr/>
        <p:txBody>
          <a:bodyPr/>
          <a:lstStyle/>
          <a:p>
            <a:fld id="{363EBCFC-8110-4776-A9BB-3C072795F11B}" type="slidenum">
              <a:rPr lang="en-US" smtClean="0"/>
              <a:t>‹#›</a:t>
            </a:fld>
            <a:endParaRPr lang="en-US"/>
          </a:p>
        </p:txBody>
      </p:sp>
    </p:spTree>
    <p:extLst>
      <p:ext uri="{BB962C8B-B14F-4D97-AF65-F5344CB8AC3E}">
        <p14:creationId xmlns:p14="http://schemas.microsoft.com/office/powerpoint/2010/main" val="2149999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972E9-4980-38BE-B37D-7D77B6B116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95BCF3-A095-C525-0731-5800E4EA97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BFF20C-2102-8C63-11F9-899626867C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7FC18A-B158-0FE5-B234-F30F78392EEE}"/>
              </a:ext>
            </a:extLst>
          </p:cNvPr>
          <p:cNvSpPr>
            <a:spLocks noGrp="1"/>
          </p:cNvSpPr>
          <p:nvPr>
            <p:ph type="dt" sz="half" idx="10"/>
          </p:nvPr>
        </p:nvSpPr>
        <p:spPr/>
        <p:txBody>
          <a:bodyPr/>
          <a:lstStyle/>
          <a:p>
            <a:fld id="{26E5468F-2D82-476A-A6F5-6AEF184246DF}" type="datetimeFigureOut">
              <a:rPr lang="en-US" smtClean="0"/>
              <a:t>5/13/2026</a:t>
            </a:fld>
            <a:endParaRPr lang="en-US"/>
          </a:p>
        </p:txBody>
      </p:sp>
      <p:sp>
        <p:nvSpPr>
          <p:cNvPr id="6" name="Footer Placeholder 5">
            <a:extLst>
              <a:ext uri="{FF2B5EF4-FFF2-40B4-BE49-F238E27FC236}">
                <a16:creationId xmlns:a16="http://schemas.microsoft.com/office/drawing/2014/main" id="{14735491-7B44-A141-1D4F-EA42A6458A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AD0578-D800-4F87-716D-AE853D09E1E2}"/>
              </a:ext>
            </a:extLst>
          </p:cNvPr>
          <p:cNvSpPr>
            <a:spLocks noGrp="1"/>
          </p:cNvSpPr>
          <p:nvPr>
            <p:ph type="sldNum" sz="quarter" idx="12"/>
          </p:nvPr>
        </p:nvSpPr>
        <p:spPr/>
        <p:txBody>
          <a:bodyPr/>
          <a:lstStyle/>
          <a:p>
            <a:fld id="{363EBCFC-8110-4776-A9BB-3C072795F11B}" type="slidenum">
              <a:rPr lang="en-US" smtClean="0"/>
              <a:t>‹#›</a:t>
            </a:fld>
            <a:endParaRPr lang="en-US"/>
          </a:p>
        </p:txBody>
      </p:sp>
    </p:spTree>
    <p:extLst>
      <p:ext uri="{BB962C8B-B14F-4D97-AF65-F5344CB8AC3E}">
        <p14:creationId xmlns:p14="http://schemas.microsoft.com/office/powerpoint/2010/main" val="3340583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1E639-0503-CB02-025C-0A1F3C4E3D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FA306FC-DB24-E614-F8ED-34C8DC504F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33D049-C8D9-8BCB-ACC6-67CDD70E03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A0DD52-6B6A-4482-BD57-F285C5B4DD19}"/>
              </a:ext>
            </a:extLst>
          </p:cNvPr>
          <p:cNvSpPr>
            <a:spLocks noGrp="1"/>
          </p:cNvSpPr>
          <p:nvPr>
            <p:ph type="dt" sz="half" idx="10"/>
          </p:nvPr>
        </p:nvSpPr>
        <p:spPr/>
        <p:txBody>
          <a:bodyPr/>
          <a:lstStyle/>
          <a:p>
            <a:fld id="{26E5468F-2D82-476A-A6F5-6AEF184246DF}" type="datetimeFigureOut">
              <a:rPr lang="en-US" smtClean="0"/>
              <a:t>5/13/2026</a:t>
            </a:fld>
            <a:endParaRPr lang="en-US"/>
          </a:p>
        </p:txBody>
      </p:sp>
      <p:sp>
        <p:nvSpPr>
          <p:cNvPr id="6" name="Footer Placeholder 5">
            <a:extLst>
              <a:ext uri="{FF2B5EF4-FFF2-40B4-BE49-F238E27FC236}">
                <a16:creationId xmlns:a16="http://schemas.microsoft.com/office/drawing/2014/main" id="{368BF5C1-3EC2-65B7-A5CE-FBB07C7A7A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180A6F-1145-AD90-23E8-0BE1C41C0FBE}"/>
              </a:ext>
            </a:extLst>
          </p:cNvPr>
          <p:cNvSpPr>
            <a:spLocks noGrp="1"/>
          </p:cNvSpPr>
          <p:nvPr>
            <p:ph type="sldNum" sz="quarter" idx="12"/>
          </p:nvPr>
        </p:nvSpPr>
        <p:spPr/>
        <p:txBody>
          <a:bodyPr/>
          <a:lstStyle/>
          <a:p>
            <a:fld id="{363EBCFC-8110-4776-A9BB-3C072795F11B}" type="slidenum">
              <a:rPr lang="en-US" smtClean="0"/>
              <a:t>‹#›</a:t>
            </a:fld>
            <a:endParaRPr lang="en-US"/>
          </a:p>
        </p:txBody>
      </p:sp>
    </p:spTree>
    <p:extLst>
      <p:ext uri="{BB962C8B-B14F-4D97-AF65-F5344CB8AC3E}">
        <p14:creationId xmlns:p14="http://schemas.microsoft.com/office/powerpoint/2010/main" val="1962289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F7358-365B-832B-3D43-902FFE19DC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099A9F-E434-7ACB-BAF2-FEB95197D7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422B5B-80CE-EAF2-FC11-856028154F7A}"/>
              </a:ext>
            </a:extLst>
          </p:cNvPr>
          <p:cNvSpPr>
            <a:spLocks noGrp="1"/>
          </p:cNvSpPr>
          <p:nvPr>
            <p:ph type="dt" sz="half" idx="10"/>
          </p:nvPr>
        </p:nvSpPr>
        <p:spPr/>
        <p:txBody>
          <a:bodyPr/>
          <a:lstStyle/>
          <a:p>
            <a:fld id="{26E5468F-2D82-476A-A6F5-6AEF184246DF}" type="datetimeFigureOut">
              <a:rPr lang="en-US" smtClean="0"/>
              <a:t>5/13/2026</a:t>
            </a:fld>
            <a:endParaRPr lang="en-US"/>
          </a:p>
        </p:txBody>
      </p:sp>
      <p:sp>
        <p:nvSpPr>
          <p:cNvPr id="5" name="Footer Placeholder 4">
            <a:extLst>
              <a:ext uri="{FF2B5EF4-FFF2-40B4-BE49-F238E27FC236}">
                <a16:creationId xmlns:a16="http://schemas.microsoft.com/office/drawing/2014/main" id="{B7A24EEC-1558-8C23-14C6-5B0B23BAB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B29153-78B8-CF6E-EA08-BA9FF9DB89D5}"/>
              </a:ext>
            </a:extLst>
          </p:cNvPr>
          <p:cNvSpPr>
            <a:spLocks noGrp="1"/>
          </p:cNvSpPr>
          <p:nvPr>
            <p:ph type="sldNum" sz="quarter" idx="12"/>
          </p:nvPr>
        </p:nvSpPr>
        <p:spPr/>
        <p:txBody>
          <a:bodyPr/>
          <a:lstStyle/>
          <a:p>
            <a:fld id="{363EBCFC-8110-4776-A9BB-3C072795F11B}" type="slidenum">
              <a:rPr lang="en-US" smtClean="0"/>
              <a:t>‹#›</a:t>
            </a:fld>
            <a:endParaRPr lang="en-US"/>
          </a:p>
        </p:txBody>
      </p:sp>
    </p:spTree>
    <p:extLst>
      <p:ext uri="{BB962C8B-B14F-4D97-AF65-F5344CB8AC3E}">
        <p14:creationId xmlns:p14="http://schemas.microsoft.com/office/powerpoint/2010/main" val="3318322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D4878F-F40D-8044-DAAB-C9641286E4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4A093FE-3962-FED3-BBA4-28F0D0C2B6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FC113F-6B30-7F40-64E7-F6F32A3457D0}"/>
              </a:ext>
            </a:extLst>
          </p:cNvPr>
          <p:cNvSpPr>
            <a:spLocks noGrp="1"/>
          </p:cNvSpPr>
          <p:nvPr>
            <p:ph type="dt" sz="half" idx="10"/>
          </p:nvPr>
        </p:nvSpPr>
        <p:spPr/>
        <p:txBody>
          <a:bodyPr/>
          <a:lstStyle/>
          <a:p>
            <a:fld id="{26E5468F-2D82-476A-A6F5-6AEF184246DF}" type="datetimeFigureOut">
              <a:rPr lang="en-US" smtClean="0"/>
              <a:t>5/13/2026</a:t>
            </a:fld>
            <a:endParaRPr lang="en-US"/>
          </a:p>
        </p:txBody>
      </p:sp>
      <p:sp>
        <p:nvSpPr>
          <p:cNvPr id="5" name="Footer Placeholder 4">
            <a:extLst>
              <a:ext uri="{FF2B5EF4-FFF2-40B4-BE49-F238E27FC236}">
                <a16:creationId xmlns:a16="http://schemas.microsoft.com/office/drawing/2014/main" id="{345A78AC-FA73-9F1D-8E2F-70EBE706A1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CBDAC3-15BF-870D-1B5D-D3B5A73E8BEF}"/>
              </a:ext>
            </a:extLst>
          </p:cNvPr>
          <p:cNvSpPr>
            <a:spLocks noGrp="1"/>
          </p:cNvSpPr>
          <p:nvPr>
            <p:ph type="sldNum" sz="quarter" idx="12"/>
          </p:nvPr>
        </p:nvSpPr>
        <p:spPr/>
        <p:txBody>
          <a:bodyPr/>
          <a:lstStyle/>
          <a:p>
            <a:fld id="{363EBCFC-8110-4776-A9BB-3C072795F11B}" type="slidenum">
              <a:rPr lang="en-US" smtClean="0"/>
              <a:t>‹#›</a:t>
            </a:fld>
            <a:endParaRPr lang="en-US"/>
          </a:p>
        </p:txBody>
      </p:sp>
    </p:spTree>
    <p:extLst>
      <p:ext uri="{BB962C8B-B14F-4D97-AF65-F5344CB8AC3E}">
        <p14:creationId xmlns:p14="http://schemas.microsoft.com/office/powerpoint/2010/main" val="3313360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1ED0DB-B0B7-07BC-50A1-D7BB7332AF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6B14AF9-923F-AB64-A323-876AF2F5AE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DC088A-D44A-6897-1923-D8C53C7A78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E5468F-2D82-476A-A6F5-6AEF184246DF}" type="datetimeFigureOut">
              <a:rPr lang="en-US" smtClean="0"/>
              <a:t>5/13/2026</a:t>
            </a:fld>
            <a:endParaRPr lang="en-US"/>
          </a:p>
        </p:txBody>
      </p:sp>
      <p:sp>
        <p:nvSpPr>
          <p:cNvPr id="5" name="Footer Placeholder 4">
            <a:extLst>
              <a:ext uri="{FF2B5EF4-FFF2-40B4-BE49-F238E27FC236}">
                <a16:creationId xmlns:a16="http://schemas.microsoft.com/office/drawing/2014/main" id="{E4CDC4E5-ABC1-D215-903F-B73AA06268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98FEE3E-5D4C-49D9-A083-02F2C764B4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3EBCFC-8110-4776-A9BB-3C072795F11B}" type="slidenum">
              <a:rPr lang="en-US" smtClean="0"/>
              <a:t>‹#›</a:t>
            </a:fld>
            <a:endParaRPr lang="en-US"/>
          </a:p>
        </p:txBody>
      </p:sp>
    </p:spTree>
    <p:extLst>
      <p:ext uri="{BB962C8B-B14F-4D97-AF65-F5344CB8AC3E}">
        <p14:creationId xmlns:p14="http://schemas.microsoft.com/office/powerpoint/2010/main" val="3314507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EA1EB-00D7-2BDF-B978-68421240715B}"/>
              </a:ext>
            </a:extLst>
          </p:cNvPr>
          <p:cNvSpPr>
            <a:spLocks noGrp="1"/>
          </p:cNvSpPr>
          <p:nvPr>
            <p:ph type="ctrTitle"/>
          </p:nvPr>
        </p:nvSpPr>
        <p:spPr>
          <a:xfrm>
            <a:off x="235670" y="1102936"/>
            <a:ext cx="10432330" cy="2153025"/>
          </a:xfrm>
        </p:spPr>
        <p:txBody>
          <a:bodyPr/>
          <a:lstStyle/>
          <a:p>
            <a:r>
              <a:rPr lang="en-US" dirty="0"/>
              <a:t>NIGERIA 2026 FEDERAL APPROPRIATION BUDGET</a:t>
            </a:r>
          </a:p>
        </p:txBody>
      </p:sp>
      <p:sp>
        <p:nvSpPr>
          <p:cNvPr id="3" name="Subtitle 2">
            <a:extLst>
              <a:ext uri="{FF2B5EF4-FFF2-40B4-BE49-F238E27FC236}">
                <a16:creationId xmlns:a16="http://schemas.microsoft.com/office/drawing/2014/main" id="{B5B8A6B4-4903-4E29-8E32-CB3569154409}"/>
              </a:ext>
            </a:extLst>
          </p:cNvPr>
          <p:cNvSpPr>
            <a:spLocks noGrp="1"/>
          </p:cNvSpPr>
          <p:nvPr>
            <p:ph type="subTitle" idx="1"/>
          </p:nvPr>
        </p:nvSpPr>
        <p:spPr>
          <a:xfrm>
            <a:off x="1414021" y="3723588"/>
            <a:ext cx="9323109" cy="1480008"/>
          </a:xfrm>
        </p:spPr>
        <p:txBody>
          <a:bodyPr>
            <a:normAutofit/>
          </a:bodyPr>
          <a:lstStyle/>
          <a:p>
            <a:endParaRPr lang="en-US" dirty="0"/>
          </a:p>
          <a:p>
            <a:endParaRPr lang="en-US" dirty="0"/>
          </a:p>
          <a:p>
            <a:r>
              <a:rPr lang="en-US" dirty="0"/>
              <a:t>			PRESENTED BY: DATA WIZZARDS (TEAM 48)</a:t>
            </a:r>
          </a:p>
        </p:txBody>
      </p:sp>
    </p:spTree>
    <p:extLst>
      <p:ext uri="{BB962C8B-B14F-4D97-AF65-F5344CB8AC3E}">
        <p14:creationId xmlns:p14="http://schemas.microsoft.com/office/powerpoint/2010/main" val="4041639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45B7F-23D6-3299-D4BF-FDF3BF8CCC54}"/>
              </a:ext>
            </a:extLst>
          </p:cNvPr>
          <p:cNvSpPr>
            <a:spLocks noGrp="1"/>
          </p:cNvSpPr>
          <p:nvPr>
            <p:ph type="title"/>
          </p:nvPr>
        </p:nvSpPr>
        <p:spPr>
          <a:xfrm>
            <a:off x="245097" y="282804"/>
            <a:ext cx="11108704" cy="2111603"/>
          </a:xfrm>
        </p:spPr>
        <p:txBody>
          <a:bodyPr>
            <a:normAutofit/>
          </a:bodyPr>
          <a:lstStyle/>
          <a:p>
            <a:r>
              <a:rPr lang="en-US" sz="3500" dirty="0"/>
              <a:t>PROJECT OVERVIEW</a:t>
            </a:r>
          </a:p>
        </p:txBody>
      </p:sp>
      <p:sp>
        <p:nvSpPr>
          <p:cNvPr id="3" name="Content Placeholder 2">
            <a:extLst>
              <a:ext uri="{FF2B5EF4-FFF2-40B4-BE49-F238E27FC236}">
                <a16:creationId xmlns:a16="http://schemas.microsoft.com/office/drawing/2014/main" id="{B98CA244-9719-C588-F326-004C5E08D76E}"/>
              </a:ext>
            </a:extLst>
          </p:cNvPr>
          <p:cNvSpPr>
            <a:spLocks noGrp="1"/>
          </p:cNvSpPr>
          <p:nvPr>
            <p:ph idx="1"/>
          </p:nvPr>
        </p:nvSpPr>
        <p:spPr>
          <a:xfrm>
            <a:off x="339365" y="2394408"/>
            <a:ext cx="10439400" cy="3443190"/>
          </a:xfrm>
        </p:spPr>
        <p:txBody>
          <a:bodyPr>
            <a:normAutofit/>
          </a:bodyPr>
          <a:lstStyle/>
          <a:p>
            <a:pPr marL="0" indent="0">
              <a:buNone/>
            </a:pPr>
            <a:r>
              <a:rPr lang="en-US" sz="2000" dirty="0"/>
              <a:t>This project was commissioned by a leading Nigerian television station as the data backbone for a prime-time investigative report on the 2026 Federal Appropriation Budget. The target audience is everyday Nigerians, market traders, teachers, civil servants, parents, and young professionals,  who pay taxes and deserve to understand, in plain language, where their money is going.</a:t>
            </a:r>
          </a:p>
          <a:p>
            <a:pPr marL="0" indent="0">
              <a:buNone/>
            </a:pPr>
            <a:endParaRPr lang="en-US" sz="2000" dirty="0"/>
          </a:p>
          <a:p>
            <a:pPr marL="0" indent="0">
              <a:buNone/>
            </a:pPr>
            <a:r>
              <a:rPr lang="en-US" sz="2000" dirty="0"/>
              <a:t>The total appropriation under analysis is ₦58,472,628,944,759 — Fifty-Eight Trillion, Four Hundred and Seventy-Two Billion Naira — for the fiscal year ending 31 December 2026.</a:t>
            </a:r>
          </a:p>
        </p:txBody>
      </p:sp>
    </p:spTree>
    <p:extLst>
      <p:ext uri="{BB962C8B-B14F-4D97-AF65-F5344CB8AC3E}">
        <p14:creationId xmlns:p14="http://schemas.microsoft.com/office/powerpoint/2010/main" val="3938590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C3DE-4AE4-2590-E05E-BDE24B114EFE}"/>
              </a:ext>
            </a:extLst>
          </p:cNvPr>
          <p:cNvSpPr>
            <a:spLocks noGrp="1"/>
          </p:cNvSpPr>
          <p:nvPr>
            <p:ph type="title"/>
          </p:nvPr>
        </p:nvSpPr>
        <p:spPr>
          <a:xfrm>
            <a:off x="565608" y="575035"/>
            <a:ext cx="10788192" cy="1115653"/>
          </a:xfrm>
        </p:spPr>
        <p:txBody>
          <a:bodyPr/>
          <a:lstStyle/>
          <a:p>
            <a:r>
              <a:rPr lang="en-US" dirty="0"/>
              <a:t>Analytical Questions</a:t>
            </a:r>
          </a:p>
        </p:txBody>
      </p:sp>
      <p:sp>
        <p:nvSpPr>
          <p:cNvPr id="3" name="Content Placeholder 2">
            <a:extLst>
              <a:ext uri="{FF2B5EF4-FFF2-40B4-BE49-F238E27FC236}">
                <a16:creationId xmlns:a16="http://schemas.microsoft.com/office/drawing/2014/main" id="{44CC6C3F-A2B1-F3FB-CE91-4453D22CF0D4}"/>
              </a:ext>
            </a:extLst>
          </p:cNvPr>
          <p:cNvSpPr>
            <a:spLocks noGrp="1"/>
          </p:cNvSpPr>
          <p:nvPr>
            <p:ph idx="1"/>
          </p:nvPr>
        </p:nvSpPr>
        <p:spPr>
          <a:xfrm>
            <a:off x="565608" y="2337847"/>
            <a:ext cx="10788192" cy="1470582"/>
          </a:xfrm>
        </p:spPr>
        <p:txBody>
          <a:bodyPr>
            <a:normAutofit/>
          </a:bodyPr>
          <a:lstStyle/>
          <a:p>
            <a:pPr marL="0" indent="0">
              <a:buNone/>
            </a:pPr>
            <a:r>
              <a:rPr lang="en-US" sz="2000" dirty="0"/>
              <a:t>Three analytical questions were selected for investigation. Each question was chosen because the budget data can answer it fully, no external datasets required, and because the answer reveals something that everyday Nigerians need to hear.</a:t>
            </a:r>
          </a:p>
        </p:txBody>
      </p:sp>
    </p:spTree>
    <p:extLst>
      <p:ext uri="{BB962C8B-B14F-4D97-AF65-F5344CB8AC3E}">
        <p14:creationId xmlns:p14="http://schemas.microsoft.com/office/powerpoint/2010/main" val="2548004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EDC37-497D-F3DA-92C2-6E4E39568713}"/>
              </a:ext>
            </a:extLst>
          </p:cNvPr>
          <p:cNvSpPr>
            <a:spLocks noGrp="1"/>
          </p:cNvSpPr>
          <p:nvPr>
            <p:ph type="title"/>
          </p:nvPr>
        </p:nvSpPr>
        <p:spPr/>
        <p:txBody>
          <a:bodyPr/>
          <a:lstStyle/>
          <a:p>
            <a:r>
              <a:rPr lang="en-US" dirty="0"/>
              <a:t>Question 1: Deficit &amp; Debt Burden</a:t>
            </a:r>
          </a:p>
        </p:txBody>
      </p:sp>
      <p:sp>
        <p:nvSpPr>
          <p:cNvPr id="3" name="Content Placeholder 2">
            <a:extLst>
              <a:ext uri="{FF2B5EF4-FFF2-40B4-BE49-F238E27FC236}">
                <a16:creationId xmlns:a16="http://schemas.microsoft.com/office/drawing/2014/main" id="{8DFB689C-5D19-7454-1B97-38FE50D7D67C}"/>
              </a:ext>
            </a:extLst>
          </p:cNvPr>
          <p:cNvSpPr>
            <a:spLocks noGrp="1"/>
          </p:cNvSpPr>
          <p:nvPr>
            <p:ph idx="1"/>
          </p:nvPr>
        </p:nvSpPr>
        <p:spPr/>
        <p:txBody>
          <a:bodyPr>
            <a:normAutofit/>
          </a:bodyPr>
          <a:lstStyle/>
          <a:p>
            <a:pPr marL="0" indent="0">
              <a:buNone/>
            </a:pPr>
            <a:r>
              <a:rPr lang="en-US" sz="2000" dirty="0"/>
              <a:t> "Nigeria Spends ₦1.76 For Every ₦1 It Earns“</a:t>
            </a:r>
          </a:p>
          <a:p>
            <a:pPr marL="0" indent="0">
              <a:buNone/>
            </a:pPr>
            <a:endParaRPr lang="en-US" sz="2000" dirty="0"/>
          </a:p>
          <a:p>
            <a:pPr marL="0" indent="0">
              <a:buNone/>
            </a:pPr>
            <a:r>
              <a:rPr lang="en-US" sz="2000" dirty="0"/>
              <a:t>₦33.2T</a:t>
            </a:r>
          </a:p>
          <a:p>
            <a:pPr marL="0" indent="0">
              <a:buNone/>
            </a:pPr>
            <a:r>
              <a:rPr lang="en-US" sz="2000" dirty="0"/>
              <a:t>Total Revenue</a:t>
            </a:r>
          </a:p>
          <a:p>
            <a:pPr marL="0" indent="0">
              <a:buNone/>
            </a:pPr>
            <a:r>
              <a:rPr lang="en-US" sz="2000" dirty="0"/>
              <a:t>What Nigeria earns</a:t>
            </a:r>
          </a:p>
          <a:p>
            <a:pPr marL="0" indent="0">
              <a:buNone/>
            </a:pPr>
            <a:endParaRPr lang="en-US" sz="2000" dirty="0"/>
          </a:p>
          <a:p>
            <a:pPr marL="0" indent="0">
              <a:buNone/>
            </a:pPr>
            <a:endParaRPr lang="en-US" sz="2000" dirty="0"/>
          </a:p>
          <a:p>
            <a:pPr marL="0" indent="0">
              <a:buNone/>
            </a:pPr>
            <a:endParaRPr lang="en-US" sz="2000" dirty="0"/>
          </a:p>
        </p:txBody>
      </p:sp>
      <p:graphicFrame>
        <p:nvGraphicFramePr>
          <p:cNvPr id="7" name="Table 6">
            <a:extLst>
              <a:ext uri="{FF2B5EF4-FFF2-40B4-BE49-F238E27FC236}">
                <a16:creationId xmlns:a16="http://schemas.microsoft.com/office/drawing/2014/main" id="{C969EBFA-BF96-22B6-DD1B-1AB41A480B23}"/>
              </a:ext>
            </a:extLst>
          </p:cNvPr>
          <p:cNvGraphicFramePr>
            <a:graphicFrameLocks noGrp="1"/>
          </p:cNvGraphicFramePr>
          <p:nvPr>
            <p:extLst>
              <p:ext uri="{D42A27DB-BD31-4B8C-83A1-F6EECF244321}">
                <p14:modId xmlns:p14="http://schemas.microsoft.com/office/powerpoint/2010/main" val="872509920"/>
              </p:ext>
            </p:extLst>
          </p:nvPr>
        </p:nvGraphicFramePr>
        <p:xfrm>
          <a:off x="452488" y="2384982"/>
          <a:ext cx="10058398" cy="2149311"/>
        </p:xfrm>
        <a:graphic>
          <a:graphicData uri="http://schemas.openxmlformats.org/drawingml/2006/table">
            <a:tbl>
              <a:tblPr firstRow="1" bandRow="1">
                <a:tableStyleId>{5C22544A-7EE6-4342-B048-85BDC9FD1C3A}</a:tableStyleId>
              </a:tblPr>
              <a:tblGrid>
                <a:gridCol w="2594367">
                  <a:extLst>
                    <a:ext uri="{9D8B030D-6E8A-4147-A177-3AD203B41FA5}">
                      <a16:colId xmlns:a16="http://schemas.microsoft.com/office/drawing/2014/main" val="1867655265"/>
                    </a:ext>
                  </a:extLst>
                </a:gridCol>
                <a:gridCol w="2434833">
                  <a:extLst>
                    <a:ext uri="{9D8B030D-6E8A-4147-A177-3AD203B41FA5}">
                      <a16:colId xmlns:a16="http://schemas.microsoft.com/office/drawing/2014/main" val="2097856879"/>
                    </a:ext>
                  </a:extLst>
                </a:gridCol>
                <a:gridCol w="2514599">
                  <a:extLst>
                    <a:ext uri="{9D8B030D-6E8A-4147-A177-3AD203B41FA5}">
                      <a16:colId xmlns:a16="http://schemas.microsoft.com/office/drawing/2014/main" val="2755661854"/>
                    </a:ext>
                  </a:extLst>
                </a:gridCol>
                <a:gridCol w="2514599">
                  <a:extLst>
                    <a:ext uri="{9D8B030D-6E8A-4147-A177-3AD203B41FA5}">
                      <a16:colId xmlns:a16="http://schemas.microsoft.com/office/drawing/2014/main" val="882079956"/>
                    </a:ext>
                  </a:extLst>
                </a:gridCol>
              </a:tblGrid>
              <a:tr h="2149311">
                <a:tc>
                  <a:txBody>
                    <a:bodyPr/>
                    <a:lstStyle/>
                    <a:p>
                      <a:endParaRPr lang="en-US"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b="0" dirty="0">
                        <a:solidFill>
                          <a:schemeClr val="tx1"/>
                        </a:solidFill>
                      </a:endParaRPr>
                    </a:p>
                    <a:p>
                      <a:r>
                        <a:rPr lang="en-US" sz="2000" b="0" dirty="0">
                          <a:solidFill>
                            <a:schemeClr val="tx1"/>
                          </a:solidFill>
                        </a:rPr>
                        <a:t>₦58.5T</a:t>
                      </a:r>
                    </a:p>
                    <a:p>
                      <a:r>
                        <a:rPr lang="en-US" sz="2000" b="0" dirty="0">
                          <a:solidFill>
                            <a:schemeClr val="tx1"/>
                          </a:solidFill>
                        </a:rPr>
                        <a:t>Total Expenditure</a:t>
                      </a:r>
                    </a:p>
                    <a:p>
                      <a:r>
                        <a:rPr lang="en-US" sz="2000" b="0" dirty="0">
                          <a:solidFill>
                            <a:schemeClr val="tx1"/>
                          </a:solidFill>
                        </a:rPr>
                        <a:t>176% of revenue</a:t>
                      </a:r>
                    </a:p>
                    <a:p>
                      <a:endParaRPr lang="en-US"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2000" b="0" kern="1200" dirty="0">
                        <a:solidFill>
                          <a:schemeClr val="tx1"/>
                        </a:solidFill>
                        <a:effectLst/>
                        <a:latin typeface="+mn-lt"/>
                        <a:ea typeface="+mn-ea"/>
                        <a:cs typeface="+mn-cs"/>
                      </a:endParaRPr>
                    </a:p>
                    <a:p>
                      <a:r>
                        <a:rPr lang="en-US" sz="2000" b="0" kern="1200" dirty="0">
                          <a:solidFill>
                            <a:schemeClr val="tx1"/>
                          </a:solidFill>
                          <a:effectLst/>
                          <a:latin typeface="+mn-lt"/>
                          <a:ea typeface="+mn-ea"/>
                          <a:cs typeface="+mn-cs"/>
                        </a:rPr>
                        <a:t>₦25.3T</a:t>
                      </a:r>
                    </a:p>
                    <a:p>
                      <a:r>
                        <a:rPr lang="en-US" sz="2000" b="0" kern="1200" dirty="0">
                          <a:solidFill>
                            <a:schemeClr val="tx1"/>
                          </a:solidFill>
                          <a:effectLst/>
                          <a:latin typeface="+mn-lt"/>
                          <a:ea typeface="+mn-ea"/>
                          <a:cs typeface="+mn-cs"/>
                        </a:rPr>
                        <a:t>Fiscal Deficit</a:t>
                      </a:r>
                    </a:p>
                    <a:p>
                      <a:r>
                        <a:rPr lang="en-US" sz="2000" b="0" kern="1200" dirty="0">
                          <a:solidFill>
                            <a:schemeClr val="tx1"/>
                          </a:solidFill>
                          <a:effectLst/>
                          <a:latin typeface="+mn-lt"/>
                          <a:ea typeface="+mn-ea"/>
                          <a:cs typeface="+mn-cs"/>
                        </a:rPr>
                        <a:t>76.1% of revenue</a:t>
                      </a:r>
                      <a:endParaRPr lang="en-US"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b="0" kern="1200" dirty="0">
                        <a:solidFill>
                          <a:schemeClr val="tx1"/>
                        </a:solidFill>
                        <a:effectLst/>
                        <a:latin typeface="+mn-lt"/>
                        <a:ea typeface="+mn-ea"/>
                        <a:cs typeface="+mn-cs"/>
                      </a:endParaRPr>
                    </a:p>
                    <a:p>
                      <a:r>
                        <a:rPr lang="en-US" sz="2000" b="0" kern="1200" dirty="0">
                          <a:solidFill>
                            <a:schemeClr val="tx1"/>
                          </a:solidFill>
                          <a:effectLst/>
                          <a:latin typeface="+mn-lt"/>
                          <a:ea typeface="+mn-ea"/>
                          <a:cs typeface="+mn-cs"/>
                        </a:rPr>
                        <a:t>₦15.9T</a:t>
                      </a:r>
                    </a:p>
                    <a:p>
                      <a:r>
                        <a:rPr lang="en-US" sz="2000" b="0" kern="1200" dirty="0">
                          <a:solidFill>
                            <a:schemeClr val="tx1"/>
                          </a:solidFill>
                          <a:effectLst/>
                          <a:latin typeface="+mn-lt"/>
                          <a:ea typeface="+mn-ea"/>
                          <a:cs typeface="+mn-cs"/>
                        </a:rPr>
                        <a:t>Debt Service</a:t>
                      </a:r>
                    </a:p>
                    <a:p>
                      <a:r>
                        <a:rPr lang="en-US" sz="2000" b="0" kern="1200" dirty="0">
                          <a:solidFill>
                            <a:schemeClr val="tx1"/>
                          </a:solidFill>
                          <a:effectLst/>
                          <a:latin typeface="+mn-lt"/>
                          <a:ea typeface="+mn-ea"/>
                          <a:cs typeface="+mn-cs"/>
                        </a:rPr>
                        <a:t>47.9% of revenue</a:t>
                      </a:r>
                      <a:endParaRPr lang="en-US"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6562316"/>
                  </a:ext>
                </a:extLst>
              </a:tr>
            </a:tbl>
          </a:graphicData>
        </a:graphic>
      </p:graphicFrame>
    </p:spTree>
    <p:extLst>
      <p:ext uri="{BB962C8B-B14F-4D97-AF65-F5344CB8AC3E}">
        <p14:creationId xmlns:p14="http://schemas.microsoft.com/office/powerpoint/2010/main" val="4293789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7DF25E-AA83-377F-7168-B822915D0EEE}"/>
              </a:ext>
            </a:extLst>
          </p:cNvPr>
          <p:cNvSpPr>
            <a:spLocks noGrp="1"/>
          </p:cNvSpPr>
          <p:nvPr>
            <p:ph idx="1"/>
          </p:nvPr>
        </p:nvSpPr>
        <p:spPr>
          <a:xfrm>
            <a:off x="7566798" y="669304"/>
            <a:ext cx="4625201" cy="5184742"/>
          </a:xfrm>
        </p:spPr>
        <p:txBody>
          <a:bodyPr>
            <a:normAutofit lnSpcReduction="10000"/>
          </a:bodyPr>
          <a:lstStyle/>
          <a:p>
            <a:pPr marL="0" indent="0">
              <a:buNone/>
            </a:pPr>
            <a:r>
              <a:rPr lang="en-US" dirty="0"/>
              <a:t>Key findings</a:t>
            </a:r>
          </a:p>
          <a:p>
            <a:r>
              <a:rPr lang="en-US" sz="1600" dirty="0"/>
              <a:t>IMF Debt Service Gauge- Debt service (47.92%) vs. IMF 30% benchmark: Nigeria is nearly 18 percentage points above the international danger threshold.</a:t>
            </a:r>
          </a:p>
          <a:p>
            <a:r>
              <a:rPr lang="en-US" sz="1600" dirty="0"/>
              <a:t>Revenue Source Donut- Breakdown of ₦33.2T revenue by source: The Federation Account (oil) contributes 56.74% — Nigeria's revenue base is dangerously narrow.</a:t>
            </a:r>
          </a:p>
          <a:p>
            <a:r>
              <a:rPr lang="en-US" sz="1600" dirty="0"/>
              <a:t>Expenditure Bar Chart- How ₦58.5T is split across categories: Capital (₦23.2T) is largest, but Debt Service (₦15.9T) exceeds Recurrent spending.</a:t>
            </a:r>
          </a:p>
          <a:p>
            <a:r>
              <a:rPr lang="en-US" sz="1600" dirty="0"/>
              <a:t>Debt Composition Bar- How ₦58.5T is split across categories: Capital (₦23.2T) is largest, but Debt Service (₦15.9T) exceeds Recurrent spending.</a:t>
            </a:r>
          </a:p>
          <a:p>
            <a:r>
              <a:rPr lang="en-US" sz="1600" dirty="0"/>
              <a:t>Financing Donut- How the ₦25.3T deficit is plugged: 91.14% financed by direct borrowing — asset sales contribute a negligible 0.7%</a:t>
            </a:r>
          </a:p>
          <a:p>
            <a:r>
              <a:rPr lang="en-US" sz="1600" dirty="0"/>
              <a:t>Kobo-per-Naira Bar- Cost of each category per ₦1 of revenue: Nigeria spends 176 kobo for every 100 kobo it earns — the deficit made tangible</a:t>
            </a:r>
          </a:p>
          <a:p>
            <a:endParaRPr lang="en-US" sz="1600" dirty="0"/>
          </a:p>
          <a:p>
            <a:pPr marL="0" indent="0">
              <a:buNone/>
            </a:pPr>
            <a:endParaRPr lang="en-US" dirty="0"/>
          </a:p>
        </p:txBody>
      </p:sp>
      <p:pic>
        <p:nvPicPr>
          <p:cNvPr id="4" name="Content Placeholder 4">
            <a:extLst>
              <a:ext uri="{FF2B5EF4-FFF2-40B4-BE49-F238E27FC236}">
                <a16:creationId xmlns:a16="http://schemas.microsoft.com/office/drawing/2014/main" id="{1D39FBF1-7517-439E-F33E-1802419085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658" y="1317707"/>
            <a:ext cx="6157006" cy="3057648"/>
          </a:xfrm>
        </p:spPr>
      </p:pic>
      <p:pic>
        <p:nvPicPr>
          <p:cNvPr id="10" name="Picture 9">
            <a:extLst>
              <a:ext uri="{FF2B5EF4-FFF2-40B4-BE49-F238E27FC236}">
                <a16:creationId xmlns:a16="http://schemas.microsoft.com/office/drawing/2014/main" id="{993639FD-482B-293F-FDB0-A75EDFA3EE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58" y="1197204"/>
            <a:ext cx="7221704" cy="3902697"/>
          </a:xfrm>
          <a:prstGeom prst="rect">
            <a:avLst/>
          </a:prstGeom>
        </p:spPr>
      </p:pic>
    </p:spTree>
    <p:extLst>
      <p:ext uri="{BB962C8B-B14F-4D97-AF65-F5344CB8AC3E}">
        <p14:creationId xmlns:p14="http://schemas.microsoft.com/office/powerpoint/2010/main" val="1199062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313892-24CE-03DB-F8C1-F8362A1835B6}"/>
              </a:ext>
            </a:extLst>
          </p:cNvPr>
          <p:cNvSpPr>
            <a:spLocks noGrp="1"/>
          </p:cNvSpPr>
          <p:nvPr>
            <p:ph idx="1"/>
          </p:nvPr>
        </p:nvSpPr>
        <p:spPr>
          <a:xfrm>
            <a:off x="367645" y="527901"/>
            <a:ext cx="11067068" cy="3893270"/>
          </a:xfrm>
        </p:spPr>
        <p:txBody>
          <a:bodyPr>
            <a:normAutofit fontScale="85000" lnSpcReduction="10000"/>
          </a:bodyPr>
          <a:lstStyle/>
          <a:p>
            <a:pPr marL="0" indent="0">
              <a:buNone/>
            </a:pPr>
            <a:r>
              <a:rPr lang="en-US" dirty="0"/>
              <a:t>What 91% Borrowing Means for the Future…?</a:t>
            </a:r>
          </a:p>
          <a:p>
            <a:pPr marL="0" indent="0">
              <a:buNone/>
            </a:pPr>
            <a:endParaRPr lang="en-US" dirty="0"/>
          </a:p>
          <a:p>
            <a:pPr marL="0" indent="0">
              <a:buNone/>
            </a:pPr>
            <a:endParaRPr lang="en-US" dirty="0"/>
          </a:p>
          <a:p>
            <a:pPr marL="0" indent="0">
              <a:buNone/>
            </a:pPr>
            <a:r>
              <a:rPr lang="en-US" dirty="0"/>
              <a:t>The Borrowing Trap</a:t>
            </a:r>
          </a:p>
          <a:p>
            <a:r>
              <a:rPr lang="en-US" dirty="0"/>
              <a:t>Of the ₦25.3 trillion deficit, ₦23.04 trillion (91.14%) is financed through direct borrowing — domestic and foreign debt. Another ₦2.05 trillion comes from project-tied loans. Only ₦189 billion (0.75%) comes from asset sales. This means the 2026 deficit adds directly to Nigeria's debt stock. That debt will generate future interest payments — which will appear in the 2027 and 2028 budgets as even larger debt service line items. Nigeria is, in effect, borrowing to pay for a budget that is already largely consumed by repaying previous borrowings.</a:t>
            </a:r>
          </a:p>
          <a:p>
            <a:endParaRPr lang="en-US" dirty="0"/>
          </a:p>
        </p:txBody>
      </p:sp>
    </p:spTree>
    <p:extLst>
      <p:ext uri="{BB962C8B-B14F-4D97-AF65-F5344CB8AC3E}">
        <p14:creationId xmlns:p14="http://schemas.microsoft.com/office/powerpoint/2010/main" val="2415646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F6562-875B-1108-495F-7ED330D31ED5}"/>
              </a:ext>
            </a:extLst>
          </p:cNvPr>
          <p:cNvSpPr>
            <a:spLocks noGrp="1"/>
          </p:cNvSpPr>
          <p:nvPr>
            <p:ph type="title"/>
          </p:nvPr>
        </p:nvSpPr>
        <p:spPr/>
        <p:txBody>
          <a:bodyPr/>
          <a:lstStyle/>
          <a:p>
            <a:r>
              <a:rPr lang="en-US" dirty="0"/>
              <a:t>Question 4 — The Capital Expenditure Illusion</a:t>
            </a:r>
          </a:p>
        </p:txBody>
      </p:sp>
      <p:sp>
        <p:nvSpPr>
          <p:cNvPr id="3" name="Content Placeholder 2">
            <a:extLst>
              <a:ext uri="{FF2B5EF4-FFF2-40B4-BE49-F238E27FC236}">
                <a16:creationId xmlns:a16="http://schemas.microsoft.com/office/drawing/2014/main" id="{90032CA3-9169-3115-CD62-8F4ED5AD874C}"/>
              </a:ext>
            </a:extLst>
          </p:cNvPr>
          <p:cNvSpPr>
            <a:spLocks noGrp="1"/>
          </p:cNvSpPr>
          <p:nvPr>
            <p:ph idx="1"/>
          </p:nvPr>
        </p:nvSpPr>
        <p:spPr/>
        <p:txBody>
          <a:bodyPr/>
          <a:lstStyle/>
          <a:p>
            <a:pPr marL="0" indent="0">
              <a:buNone/>
            </a:pPr>
            <a:r>
              <a:rPr lang="en-US" sz="2000" dirty="0"/>
              <a:t>"Not All of ₦23.2 Trillion Is New Investment“</a:t>
            </a:r>
          </a:p>
          <a:p>
            <a:pPr marL="0" indent="0">
              <a:buNone/>
            </a:pPr>
            <a:endParaRPr lang="en-US" sz="2000" dirty="0"/>
          </a:p>
          <a:p>
            <a:pPr marL="0" indent="0">
              <a:buNone/>
            </a:pPr>
            <a:endParaRPr lang="en-US" dirty="0"/>
          </a:p>
          <a:p>
            <a:pPr marL="0" indent="0">
              <a:buNone/>
            </a:pPr>
            <a:endParaRPr lang="en-US" dirty="0"/>
          </a:p>
        </p:txBody>
      </p:sp>
      <p:graphicFrame>
        <p:nvGraphicFramePr>
          <p:cNvPr id="14" name="Table 13">
            <a:extLst>
              <a:ext uri="{FF2B5EF4-FFF2-40B4-BE49-F238E27FC236}">
                <a16:creationId xmlns:a16="http://schemas.microsoft.com/office/drawing/2014/main" id="{77B8D634-70C8-BE40-8F95-4F244A0963FB}"/>
              </a:ext>
            </a:extLst>
          </p:cNvPr>
          <p:cNvGraphicFramePr>
            <a:graphicFrameLocks noGrp="1"/>
          </p:cNvGraphicFramePr>
          <p:nvPr>
            <p:extLst>
              <p:ext uri="{D42A27DB-BD31-4B8C-83A1-F6EECF244321}">
                <p14:modId xmlns:p14="http://schemas.microsoft.com/office/powerpoint/2010/main" val="3725472333"/>
              </p:ext>
            </p:extLst>
          </p:nvPr>
        </p:nvGraphicFramePr>
        <p:xfrm>
          <a:off x="641023" y="2545237"/>
          <a:ext cx="9518976" cy="1866507"/>
        </p:xfrm>
        <a:graphic>
          <a:graphicData uri="http://schemas.openxmlformats.org/drawingml/2006/table">
            <a:tbl>
              <a:tblPr firstRow="1" bandRow="1">
                <a:tableStyleId>{5C22544A-7EE6-4342-B048-85BDC9FD1C3A}</a:tableStyleId>
              </a:tblPr>
              <a:tblGrid>
                <a:gridCol w="1958802">
                  <a:extLst>
                    <a:ext uri="{9D8B030D-6E8A-4147-A177-3AD203B41FA5}">
                      <a16:colId xmlns:a16="http://schemas.microsoft.com/office/drawing/2014/main" val="3086243453"/>
                    </a:ext>
                  </a:extLst>
                </a:gridCol>
                <a:gridCol w="2346850">
                  <a:extLst>
                    <a:ext uri="{9D8B030D-6E8A-4147-A177-3AD203B41FA5}">
                      <a16:colId xmlns:a16="http://schemas.microsoft.com/office/drawing/2014/main" val="1273292910"/>
                    </a:ext>
                  </a:extLst>
                </a:gridCol>
                <a:gridCol w="2606662">
                  <a:extLst>
                    <a:ext uri="{9D8B030D-6E8A-4147-A177-3AD203B41FA5}">
                      <a16:colId xmlns:a16="http://schemas.microsoft.com/office/drawing/2014/main" val="2433708513"/>
                    </a:ext>
                  </a:extLst>
                </a:gridCol>
                <a:gridCol w="2606662">
                  <a:extLst>
                    <a:ext uri="{9D8B030D-6E8A-4147-A177-3AD203B41FA5}">
                      <a16:colId xmlns:a16="http://schemas.microsoft.com/office/drawing/2014/main" val="220397547"/>
                    </a:ext>
                  </a:extLst>
                </a:gridCol>
              </a:tblGrid>
              <a:tr h="1866507">
                <a:tc>
                  <a:txBody>
                    <a:bodyPr/>
                    <a:lstStyle/>
                    <a:p>
                      <a:r>
                        <a:rPr lang="en-US" b="0" dirty="0">
                          <a:solidFill>
                            <a:schemeClr val="tx1"/>
                          </a:solidFill>
                        </a:rPr>
                        <a:t>₦23.2T</a:t>
                      </a:r>
                    </a:p>
                    <a:p>
                      <a:r>
                        <a:rPr lang="en-US" b="0" dirty="0">
                          <a:solidFill>
                            <a:schemeClr val="tx1"/>
                          </a:solidFill>
                        </a:rPr>
                        <a:t>Total Capital Budget</a:t>
                      </a:r>
                    </a:p>
                    <a:p>
                      <a:r>
                        <a:rPr lang="en-US" b="0" dirty="0">
                          <a:solidFill>
                            <a:schemeClr val="tx1"/>
                          </a:solidFill>
                        </a:rPr>
                        <a:t>The headline figure</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800" b="1" kern="1200" dirty="0">
                        <a:solidFill>
                          <a:schemeClr val="lt1"/>
                        </a:solidFill>
                        <a:effectLst/>
                        <a:latin typeface="+mn-lt"/>
                        <a:ea typeface="+mn-ea"/>
                        <a:cs typeface="+mn-cs"/>
                      </a:endParaRPr>
                    </a:p>
                    <a:p>
                      <a:r>
                        <a:rPr lang="en-US" sz="1800" b="0" kern="1200" dirty="0">
                          <a:solidFill>
                            <a:schemeClr val="tx1"/>
                          </a:solidFill>
                          <a:effectLst/>
                          <a:latin typeface="+mn-lt"/>
                          <a:ea typeface="+mn-ea"/>
                          <a:cs typeface="+mn-cs"/>
                        </a:rPr>
                        <a:t>₦17.6T</a:t>
                      </a:r>
                    </a:p>
                    <a:p>
                      <a:r>
                        <a:rPr lang="en-US" sz="1800" b="0" kern="1200" dirty="0">
                          <a:solidFill>
                            <a:schemeClr val="tx1"/>
                          </a:solidFill>
                          <a:effectLst/>
                          <a:latin typeface="+mn-lt"/>
                          <a:ea typeface="+mn-ea"/>
                          <a:cs typeface="+mn-cs"/>
                        </a:rPr>
                        <a:t>True New Investment</a:t>
                      </a:r>
                    </a:p>
                    <a:p>
                      <a:r>
                        <a:rPr lang="en-US" sz="1800" b="0" kern="1200" dirty="0">
                          <a:solidFill>
                            <a:schemeClr val="tx1"/>
                          </a:solidFill>
                          <a:effectLst/>
                          <a:latin typeface="+mn-lt"/>
                          <a:ea typeface="+mn-ea"/>
                          <a:cs typeface="+mn-cs"/>
                        </a:rPr>
                        <a:t>75.6% of capital</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0" dirty="0">
                        <a:solidFill>
                          <a:schemeClr val="tx1"/>
                        </a:solidFill>
                      </a:endParaRPr>
                    </a:p>
                    <a:p>
                      <a:r>
                        <a:rPr lang="en-US" b="0" dirty="0">
                          <a:solidFill>
                            <a:schemeClr val="tx1"/>
                          </a:solidFill>
                        </a:rPr>
                        <a:t>₦3.4T</a:t>
                      </a:r>
                    </a:p>
                    <a:p>
                      <a:r>
                        <a:rPr lang="en-US" b="0" dirty="0">
                          <a:solidFill>
                            <a:schemeClr val="tx1"/>
                          </a:solidFill>
                        </a:rPr>
                        <a:t>Loan-Funded</a:t>
                      </a:r>
                    </a:p>
                    <a:p>
                      <a:r>
                        <a:rPr lang="en-US" b="0" dirty="0">
                          <a:solidFill>
                            <a:schemeClr val="tx1"/>
                          </a:solidFill>
                        </a:rPr>
                        <a:t>14.7% — new debt</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0" dirty="0">
                        <a:solidFill>
                          <a:schemeClr val="tx1"/>
                        </a:solidFill>
                      </a:endParaRPr>
                    </a:p>
                    <a:p>
                      <a:r>
                        <a:rPr lang="en-US" b="0" dirty="0">
                          <a:solidFill>
                            <a:schemeClr val="tx1"/>
                          </a:solidFill>
                        </a:rPr>
                        <a:t>₦2.2T</a:t>
                      </a:r>
                    </a:p>
                    <a:p>
                      <a:r>
                        <a:rPr lang="en-US" b="0" dirty="0">
                          <a:solidFill>
                            <a:schemeClr val="tx1"/>
                          </a:solidFill>
                        </a:rPr>
                        <a:t>Carryover Obligations</a:t>
                      </a:r>
                    </a:p>
                    <a:p>
                      <a:r>
                        <a:rPr lang="en-US" b="0" dirty="0">
                          <a:solidFill>
                            <a:schemeClr val="tx1"/>
                          </a:solidFill>
                        </a:rPr>
                        <a:t>9.6% — legacy debts</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5340279"/>
                  </a:ext>
                </a:extLst>
              </a:tr>
            </a:tbl>
          </a:graphicData>
        </a:graphic>
      </p:graphicFrame>
    </p:spTree>
    <p:extLst>
      <p:ext uri="{BB962C8B-B14F-4D97-AF65-F5344CB8AC3E}">
        <p14:creationId xmlns:p14="http://schemas.microsoft.com/office/powerpoint/2010/main" val="774085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DD163-9651-87C1-ECD2-CF006340D3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D57B4D-DD1A-495B-8150-48643D4D2FCE}"/>
              </a:ext>
            </a:extLst>
          </p:cNvPr>
          <p:cNvSpPr>
            <a:spLocks noGrp="1"/>
          </p:cNvSpPr>
          <p:nvPr>
            <p:ph idx="1"/>
          </p:nvPr>
        </p:nvSpPr>
        <p:spPr>
          <a:xfrm>
            <a:off x="7390614" y="235670"/>
            <a:ext cx="4584298" cy="5752175"/>
          </a:xfrm>
        </p:spPr>
        <p:txBody>
          <a:bodyPr>
            <a:normAutofit/>
          </a:bodyPr>
          <a:lstStyle/>
          <a:p>
            <a:pPr marL="0" indent="0">
              <a:buNone/>
            </a:pPr>
            <a:r>
              <a:rPr lang="en-US" dirty="0"/>
              <a:t>Key findings</a:t>
            </a:r>
          </a:p>
          <a:p>
            <a:r>
              <a:rPr lang="en-US" sz="1600" dirty="0"/>
              <a:t>Capital Nature Donut- 3-way split: New Investment, Loan-Funded, Carryover: The green 75.6% slice looks reassuring — until you examine what the red 9.6% contains.</a:t>
            </a:r>
          </a:p>
          <a:p>
            <a:r>
              <a:rPr lang="en-US" sz="1600" dirty="0"/>
              <a:t>Waterfall/Decomposition Bar- Total → minus carryover → minus loans → true new: The ₦23.2T shrinks by ₦5.7T before a single new project begins</a:t>
            </a:r>
          </a:p>
          <a:p>
            <a:r>
              <a:rPr lang="en-US" sz="1600" dirty="0"/>
              <a:t>Carryover Items Bar- All 6 legacy debt line items named and sized: ₦1.7T alone is for unpaid 2024 contractor bills — money owed for work already done</a:t>
            </a:r>
          </a:p>
          <a:p>
            <a:r>
              <a:rPr lang="en-US" sz="1600" dirty="0"/>
              <a:t>Loan-Funded Bar- All 12 multilateral/bilateral projects: Power and Works ministries dominate — ₦1.05T of loan-funded infrastructure</a:t>
            </a:r>
          </a:p>
          <a:p>
            <a:r>
              <a:rPr lang="en-US" sz="1600" dirty="0"/>
              <a:t>Top MDAs New Investment- Which ministries get the most genuine new capital: Federal Ministry of Works commands ₦3.07T — 17.5% of all true new investment</a:t>
            </a:r>
          </a:p>
          <a:p>
            <a:pPr marL="0" indent="0">
              <a:buNone/>
            </a:pPr>
            <a:endParaRPr lang="en-US" dirty="0"/>
          </a:p>
        </p:txBody>
      </p:sp>
      <p:pic>
        <p:nvPicPr>
          <p:cNvPr id="2" name="Content Placeholder 4">
            <a:extLst>
              <a:ext uri="{FF2B5EF4-FFF2-40B4-BE49-F238E27FC236}">
                <a16:creationId xmlns:a16="http://schemas.microsoft.com/office/drawing/2014/main" id="{98385602-C0D0-7BCA-E03A-7337B282F5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29" y="1338607"/>
            <a:ext cx="7289075" cy="3629320"/>
          </a:xfrm>
          <a:prstGeom prst="rect">
            <a:avLst/>
          </a:prstGeom>
        </p:spPr>
      </p:pic>
    </p:spTree>
    <p:extLst>
      <p:ext uri="{BB962C8B-B14F-4D97-AF65-F5344CB8AC3E}">
        <p14:creationId xmlns:p14="http://schemas.microsoft.com/office/powerpoint/2010/main" val="3420461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68E3D-1737-9A63-DE40-1C464ABB51B7}"/>
              </a:ext>
            </a:extLst>
          </p:cNvPr>
          <p:cNvSpPr>
            <a:spLocks noGrp="1"/>
          </p:cNvSpPr>
          <p:nvPr>
            <p:ph type="title"/>
          </p:nvPr>
        </p:nvSpPr>
        <p:spPr/>
        <p:txBody>
          <a:bodyPr/>
          <a:lstStyle/>
          <a:p>
            <a:r>
              <a:rPr lang="en-US" dirty="0"/>
              <a:t>Question 5 — The Healthcare Compliance Test</a:t>
            </a:r>
          </a:p>
        </p:txBody>
      </p:sp>
      <p:sp>
        <p:nvSpPr>
          <p:cNvPr id="3" name="Content Placeholder 2">
            <a:extLst>
              <a:ext uri="{FF2B5EF4-FFF2-40B4-BE49-F238E27FC236}">
                <a16:creationId xmlns:a16="http://schemas.microsoft.com/office/drawing/2014/main" id="{7AB47536-7A95-1843-0637-B2565A502AB8}"/>
              </a:ext>
            </a:extLst>
          </p:cNvPr>
          <p:cNvSpPr>
            <a:spLocks noGrp="1"/>
          </p:cNvSpPr>
          <p:nvPr>
            <p:ph idx="1"/>
          </p:nvPr>
        </p:nvSpPr>
        <p:spPr/>
        <p:txBody>
          <a:bodyPr>
            <a:normAutofit/>
          </a:bodyPr>
          <a:lstStyle/>
          <a:p>
            <a:pPr marL="0" indent="0">
              <a:buNone/>
            </a:pPr>
            <a:r>
              <a:rPr lang="en-US" sz="2000" dirty="0"/>
              <a:t>"Nigeria's Health Budget Is Compliant — But By a Dangerous Margin“</a:t>
            </a:r>
          </a:p>
          <a:p>
            <a:pPr marL="0" indent="0">
              <a:buNone/>
            </a:pPr>
            <a:endParaRPr lang="en-US" sz="2000" dirty="0"/>
          </a:p>
          <a:p>
            <a:pPr marL="0" indent="0">
              <a:buNone/>
            </a:pPr>
            <a:r>
              <a:rPr lang="en-US" sz="2000" dirty="0"/>
              <a:t>Legal Requirement:</a:t>
            </a:r>
          </a:p>
          <a:p>
            <a:pPr marL="0" indent="0">
              <a:buNone/>
            </a:pPr>
            <a:r>
              <a:rPr lang="en-US" sz="2000" dirty="0"/>
              <a:t>Section 4 of the 2026 Appropriation Bill, "Targeted Health Interventions, investment in Healthcare, should not be less than 6% of total Budget size, net of Debt Service and Liabilities." This is not a policy aspiration. It is written into law in the Appropriation Bill itself, the same document that </a:t>
            </a:r>
            <a:r>
              <a:rPr lang="en-US" sz="2000" dirty="0" err="1"/>
              <a:t>authorises</a:t>
            </a:r>
            <a:r>
              <a:rPr lang="en-US" sz="2000" dirty="0"/>
              <a:t> every other naira of spending.</a:t>
            </a:r>
          </a:p>
          <a:p>
            <a:pPr marL="0" indent="0">
              <a:buNone/>
            </a:pPr>
            <a:endParaRPr lang="en-US" sz="2000" dirty="0"/>
          </a:p>
        </p:txBody>
      </p:sp>
    </p:spTree>
    <p:extLst>
      <p:ext uri="{BB962C8B-B14F-4D97-AF65-F5344CB8AC3E}">
        <p14:creationId xmlns:p14="http://schemas.microsoft.com/office/powerpoint/2010/main" val="3288575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8D19F-E508-2B7E-6B89-DB80377616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FD6E28-B2EA-70D8-964F-BF14E4EF000B}"/>
              </a:ext>
            </a:extLst>
          </p:cNvPr>
          <p:cNvSpPr>
            <a:spLocks noGrp="1"/>
          </p:cNvSpPr>
          <p:nvPr>
            <p:ph idx="1"/>
          </p:nvPr>
        </p:nvSpPr>
        <p:spPr>
          <a:xfrm>
            <a:off x="7729978" y="772997"/>
            <a:ext cx="4462021" cy="5081047"/>
          </a:xfrm>
        </p:spPr>
        <p:txBody>
          <a:bodyPr>
            <a:normAutofit lnSpcReduction="10000"/>
          </a:bodyPr>
          <a:lstStyle/>
          <a:p>
            <a:pPr marL="0" indent="0">
              <a:buNone/>
            </a:pPr>
            <a:r>
              <a:rPr lang="en-US" dirty="0"/>
              <a:t>Key findings</a:t>
            </a:r>
          </a:p>
          <a:p>
            <a:r>
              <a:rPr lang="en-US" sz="1600" dirty="0"/>
              <a:t>COMPLIANT Banner- Green card showing Section 4 verdict: The budget passes, but the sensitivity test tells the real story</a:t>
            </a:r>
          </a:p>
          <a:p>
            <a:r>
              <a:rPr lang="en-US" sz="1600" dirty="0"/>
              <a:t>Compliance Gauge - </a:t>
            </a:r>
            <a:r>
              <a:rPr lang="pt-BR" sz="1600" dirty="0"/>
              <a:t>Actual 6.39% vs. legal minimum 6.00%: </a:t>
            </a:r>
            <a:r>
              <a:rPr lang="en-US" sz="1600" dirty="0"/>
              <a:t>The needle is barely above the red line, a 0.39 percentage point margin</a:t>
            </a:r>
          </a:p>
          <a:p>
            <a:r>
              <a:rPr lang="en-US" sz="1600" dirty="0"/>
              <a:t>Health Line Items Bar- All 15 health-eligible lines ranked by size: Two items; Health Ministry recurrent (₦1,010Bn) and capital (₦898Bn), make up 70% of the total</a:t>
            </a:r>
          </a:p>
          <a:p>
            <a:r>
              <a:rPr lang="en-US" sz="1600" dirty="0"/>
              <a:t>Health by Type Donut - Recurrent vs Capital vs Statutory split:48.76% recurrent, 43.33% capital, 7.90% statutory, a structurally healthy balance</a:t>
            </a:r>
          </a:p>
          <a:p>
            <a:r>
              <a:rPr lang="en-US" sz="1600" dirty="0"/>
              <a:t>Sensitivity Bar Chart – 3 compliance scenarios tested: Remove one building (NIA Hospital) and Nigeria falls out of compliance</a:t>
            </a:r>
          </a:p>
          <a:p>
            <a:r>
              <a:rPr lang="en-US" sz="1600" dirty="0"/>
              <a:t>Health vs Security Bar - Side-by-side sector comparison: Security gets ₦6.55T, 2.41 times the entire health-eligible budget</a:t>
            </a:r>
          </a:p>
          <a:p>
            <a:pPr marL="0" indent="0">
              <a:buNone/>
            </a:pPr>
            <a:endParaRPr lang="en-US" dirty="0"/>
          </a:p>
        </p:txBody>
      </p:sp>
      <p:pic>
        <p:nvPicPr>
          <p:cNvPr id="7" name="Content Placeholder 6">
            <a:extLst>
              <a:ext uri="{FF2B5EF4-FFF2-40B4-BE49-F238E27FC236}">
                <a16:creationId xmlns:a16="http://schemas.microsoft.com/office/drawing/2014/main" id="{33B1AE69-5AA7-F31B-EF62-01DAAF67B0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205" y="1084476"/>
            <a:ext cx="7673773" cy="3826889"/>
          </a:xfrm>
        </p:spPr>
      </p:pic>
    </p:spTree>
    <p:extLst>
      <p:ext uri="{BB962C8B-B14F-4D97-AF65-F5344CB8AC3E}">
        <p14:creationId xmlns:p14="http://schemas.microsoft.com/office/powerpoint/2010/main" val="3104815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EB205-98D4-8513-9EE3-7AB0F2508B4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ECDEFA-947E-6036-64FF-4BBBA3346D5E}"/>
              </a:ext>
            </a:extLst>
          </p:cNvPr>
          <p:cNvSpPr>
            <a:spLocks noGrp="1"/>
          </p:cNvSpPr>
          <p:nvPr>
            <p:ph idx="1"/>
          </p:nvPr>
        </p:nvSpPr>
        <p:spPr>
          <a:xfrm>
            <a:off x="320511" y="1244337"/>
            <a:ext cx="11698664" cy="3714162"/>
          </a:xfrm>
        </p:spPr>
        <p:txBody>
          <a:bodyPr>
            <a:normAutofit fontScale="92500" lnSpcReduction="10000"/>
          </a:bodyPr>
          <a:lstStyle/>
          <a:p>
            <a:pPr marL="0" indent="0">
              <a:buNone/>
            </a:pPr>
            <a:r>
              <a:rPr lang="en-US" dirty="0"/>
              <a:t>The NIA Hospital Question</a:t>
            </a:r>
          </a:p>
          <a:p>
            <a:pPr marL="0" indent="0">
              <a:buNone/>
            </a:pPr>
            <a:endParaRPr lang="en-US" dirty="0"/>
          </a:p>
          <a:p>
            <a:pPr marL="0" indent="0">
              <a:buNone/>
            </a:pPr>
            <a:endParaRPr lang="en-US" dirty="0"/>
          </a:p>
          <a:p>
            <a:pPr marL="0" indent="0">
              <a:buNone/>
            </a:pPr>
            <a:r>
              <a:rPr lang="en-US" dirty="0"/>
              <a:t>A ₦208 billion intelligence-sector hospital is the single item keeping Nigeria on the right side of its own health law. The Nigeria Intelligence Agency Hospital is classified as a health-eligible capital investment, but it serves the intelligence community, not the general public. Whether this constitutes a "targeted health intervention" as envisioned by Section 4 is a question the legislature, civil society, and citizens should ask. Remove it, and Nigeria's health budget falls from 6.39% to 5.90%, below the legal minimum.</a:t>
            </a:r>
          </a:p>
          <a:p>
            <a:endParaRPr lang="en-US" dirty="0"/>
          </a:p>
        </p:txBody>
      </p:sp>
    </p:spTree>
    <p:extLst>
      <p:ext uri="{BB962C8B-B14F-4D97-AF65-F5344CB8AC3E}">
        <p14:creationId xmlns:p14="http://schemas.microsoft.com/office/powerpoint/2010/main" val="1187433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C367C-4E32-12B7-2AC0-E5F06D0925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68BBE7-1FAA-0711-72FD-81F6F092BD6E}"/>
              </a:ext>
            </a:extLst>
          </p:cNvPr>
          <p:cNvSpPr>
            <a:spLocks noGrp="1"/>
          </p:cNvSpPr>
          <p:nvPr>
            <p:ph idx="1"/>
          </p:nvPr>
        </p:nvSpPr>
        <p:spPr>
          <a:xfrm>
            <a:off x="348791" y="452488"/>
            <a:ext cx="11670383" cy="4506012"/>
          </a:xfrm>
        </p:spPr>
        <p:txBody>
          <a:bodyPr>
            <a:normAutofit/>
          </a:bodyPr>
          <a:lstStyle/>
          <a:p>
            <a:pPr marL="0" indent="0">
              <a:buNone/>
            </a:pPr>
            <a:r>
              <a:rPr lang="en-US" dirty="0"/>
              <a:t>Health vs. Security: The Values Question</a:t>
            </a:r>
          </a:p>
          <a:p>
            <a:pPr marL="0" indent="0">
              <a:buNone/>
            </a:pPr>
            <a:endParaRPr lang="en-US" dirty="0"/>
          </a:p>
          <a:p>
            <a:pPr marL="0" indent="0">
              <a:buNone/>
            </a:pPr>
            <a:r>
              <a:rPr lang="en-US" sz="2000" dirty="0"/>
              <a:t>The final chart on Page 3 places the health budget in its sharpest context. Nigeria's Security &amp; </a:t>
            </a:r>
            <a:r>
              <a:rPr lang="en-US" sz="2000" dirty="0" err="1"/>
              <a:t>Defence</a:t>
            </a:r>
            <a:r>
              <a:rPr lang="en-US" sz="2000" dirty="0"/>
              <a:t> sector,  including the Ministry of </a:t>
            </a:r>
            <a:r>
              <a:rPr lang="en-US" sz="2000" dirty="0" err="1"/>
              <a:t>Defence</a:t>
            </a:r>
            <a:r>
              <a:rPr lang="en-US" sz="2000" dirty="0"/>
              <a:t>, Police Affairs, Ministry of Interior, National Security Adviser, and related operations,  receives a combined ₦6.55 trillion. The entire health-eligible budget is ₦2.72 trillion.</a:t>
            </a:r>
          </a:p>
          <a:p>
            <a:pPr marL="0" indent="0">
              <a:buNone/>
            </a:pPr>
            <a:r>
              <a:rPr lang="en-US" sz="2000" dirty="0"/>
              <a:t>For every ₦1 Nigeria spends on health, it spends ₦2.41 on security and </a:t>
            </a:r>
            <a:r>
              <a:rPr lang="en-US" sz="2000" dirty="0" err="1"/>
              <a:t>defence</a:t>
            </a:r>
            <a:r>
              <a:rPr lang="en-US" sz="2000" dirty="0"/>
              <a:t>. Security is a legitimate priority for a country facing real insurgency threats. But for the 200 million Nigerians whose greatest daily threat is not a bullet but a preventable disease, the cost of an overwhelmed health system is measured in lives, not statistics.</a:t>
            </a:r>
          </a:p>
          <a:p>
            <a:pPr marL="0" indent="0">
              <a:buNone/>
            </a:pPr>
            <a:endParaRPr lang="en-US" dirty="0"/>
          </a:p>
        </p:txBody>
      </p:sp>
      <p:graphicFrame>
        <p:nvGraphicFramePr>
          <p:cNvPr id="2" name="Table 1">
            <a:extLst>
              <a:ext uri="{FF2B5EF4-FFF2-40B4-BE49-F238E27FC236}">
                <a16:creationId xmlns:a16="http://schemas.microsoft.com/office/drawing/2014/main" id="{8D2CE00D-6DB5-20EC-283E-D4049938FCB6}"/>
              </a:ext>
            </a:extLst>
          </p:cNvPr>
          <p:cNvGraphicFramePr>
            <a:graphicFrameLocks noGrp="1"/>
          </p:cNvGraphicFramePr>
          <p:nvPr>
            <p:extLst>
              <p:ext uri="{D42A27DB-BD31-4B8C-83A1-F6EECF244321}">
                <p14:modId xmlns:p14="http://schemas.microsoft.com/office/powerpoint/2010/main" val="2744262514"/>
              </p:ext>
            </p:extLst>
          </p:nvPr>
        </p:nvGraphicFramePr>
        <p:xfrm>
          <a:off x="575035" y="3959258"/>
          <a:ext cx="10312924" cy="1970202"/>
        </p:xfrm>
        <a:graphic>
          <a:graphicData uri="http://schemas.openxmlformats.org/drawingml/2006/table">
            <a:tbl>
              <a:tblPr firstRow="1" bandRow="1">
                <a:tableStyleId>{5C22544A-7EE6-4342-B048-85BDC9FD1C3A}</a:tableStyleId>
              </a:tblPr>
              <a:tblGrid>
                <a:gridCol w="2578231">
                  <a:extLst>
                    <a:ext uri="{9D8B030D-6E8A-4147-A177-3AD203B41FA5}">
                      <a16:colId xmlns:a16="http://schemas.microsoft.com/office/drawing/2014/main" val="3950948211"/>
                    </a:ext>
                  </a:extLst>
                </a:gridCol>
                <a:gridCol w="2578231">
                  <a:extLst>
                    <a:ext uri="{9D8B030D-6E8A-4147-A177-3AD203B41FA5}">
                      <a16:colId xmlns:a16="http://schemas.microsoft.com/office/drawing/2014/main" val="2612870115"/>
                    </a:ext>
                  </a:extLst>
                </a:gridCol>
                <a:gridCol w="2578231">
                  <a:extLst>
                    <a:ext uri="{9D8B030D-6E8A-4147-A177-3AD203B41FA5}">
                      <a16:colId xmlns:a16="http://schemas.microsoft.com/office/drawing/2014/main" val="374355914"/>
                    </a:ext>
                  </a:extLst>
                </a:gridCol>
                <a:gridCol w="2578231">
                  <a:extLst>
                    <a:ext uri="{9D8B030D-6E8A-4147-A177-3AD203B41FA5}">
                      <a16:colId xmlns:a16="http://schemas.microsoft.com/office/drawing/2014/main" val="2459987558"/>
                    </a:ext>
                  </a:extLst>
                </a:gridCol>
              </a:tblGrid>
              <a:tr h="1970202">
                <a:tc>
                  <a:txBody>
                    <a:bodyPr/>
                    <a:lstStyle/>
                    <a:p>
                      <a:endParaRPr lang="en-US" dirty="0"/>
                    </a:p>
                    <a:p>
                      <a:r>
                        <a:rPr lang="en-US" b="0" dirty="0">
                          <a:solidFill>
                            <a:schemeClr val="tx1"/>
                          </a:solidFill>
                        </a:rPr>
                        <a:t>₦6.55T</a:t>
                      </a:r>
                    </a:p>
                    <a:p>
                      <a:r>
                        <a:rPr lang="en-US" b="0" dirty="0">
                          <a:solidFill>
                            <a:schemeClr val="tx1"/>
                          </a:solidFill>
                        </a:rPr>
                        <a:t>Security &amp; </a:t>
                      </a:r>
                      <a:r>
                        <a:rPr lang="en-US" b="0" dirty="0" err="1">
                          <a:solidFill>
                            <a:schemeClr val="tx1"/>
                          </a:solidFill>
                        </a:rPr>
                        <a:t>Defence</a:t>
                      </a:r>
                      <a:r>
                        <a:rPr lang="en-US" b="0" dirty="0">
                          <a:solidFill>
                            <a:schemeClr val="tx1"/>
                          </a:solidFill>
                        </a:rPr>
                        <a:t> Total</a:t>
                      </a:r>
                    </a:p>
                    <a:p>
                      <a:r>
                        <a:rPr lang="en-US" b="0" dirty="0">
                          <a:solidFill>
                            <a:schemeClr val="tx1"/>
                          </a:solidFill>
                        </a:rPr>
                        <a:t>11.20% of total budget</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p>
                      <a:r>
                        <a:rPr lang="en-US" b="0" dirty="0">
                          <a:solidFill>
                            <a:schemeClr val="tx1"/>
                          </a:solidFill>
                        </a:rPr>
                        <a:t>₦2.72T</a:t>
                      </a:r>
                    </a:p>
                    <a:p>
                      <a:r>
                        <a:rPr lang="en-US" b="0" dirty="0">
                          <a:solidFill>
                            <a:schemeClr val="tx1"/>
                          </a:solidFill>
                        </a:rPr>
                        <a:t>Health (Section 4 Eligible)</a:t>
                      </a:r>
                    </a:p>
                    <a:p>
                      <a:r>
                        <a:rPr lang="en-US" b="0" dirty="0">
                          <a:solidFill>
                            <a:schemeClr val="tx1"/>
                          </a:solidFill>
                        </a:rPr>
                        <a:t>4.65% of total budget</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b="1" kern="1200" dirty="0">
                        <a:solidFill>
                          <a:schemeClr val="lt1"/>
                        </a:solidFill>
                        <a:effectLst/>
                        <a:latin typeface="+mn-lt"/>
                        <a:ea typeface="+mn-ea"/>
                        <a:cs typeface="+mn-cs"/>
                      </a:endParaRPr>
                    </a:p>
                    <a:p>
                      <a:r>
                        <a:rPr lang="en-US" sz="1800" b="0" kern="1200" dirty="0">
                          <a:solidFill>
                            <a:schemeClr val="tx1"/>
                          </a:solidFill>
                          <a:effectLst/>
                          <a:latin typeface="+mn-lt"/>
                          <a:ea typeface="+mn-ea"/>
                          <a:cs typeface="+mn-cs"/>
                        </a:rPr>
                        <a:t>2.41×</a:t>
                      </a:r>
                    </a:p>
                    <a:p>
                      <a:r>
                        <a:rPr lang="en-US" sz="1800" b="0" kern="1200" dirty="0">
                          <a:solidFill>
                            <a:schemeClr val="tx1"/>
                          </a:solidFill>
                          <a:effectLst/>
                          <a:latin typeface="+mn-lt"/>
                          <a:ea typeface="+mn-ea"/>
                          <a:cs typeface="+mn-cs"/>
                        </a:rPr>
                        <a:t>Security ÷ Health Ratio</a:t>
                      </a:r>
                    </a:p>
                    <a:p>
                      <a:r>
                        <a:rPr lang="en-US" sz="1800" b="0" kern="1200" dirty="0">
                          <a:solidFill>
                            <a:schemeClr val="tx1"/>
                          </a:solidFill>
                          <a:effectLst/>
                          <a:latin typeface="+mn-lt"/>
                          <a:ea typeface="+mn-ea"/>
                          <a:cs typeface="+mn-cs"/>
                        </a:rPr>
                        <a:t>For every ₦1 on health</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3016622"/>
                  </a:ext>
                </a:extLst>
              </a:tr>
            </a:tbl>
          </a:graphicData>
        </a:graphic>
      </p:graphicFrame>
    </p:spTree>
    <p:extLst>
      <p:ext uri="{BB962C8B-B14F-4D97-AF65-F5344CB8AC3E}">
        <p14:creationId xmlns:p14="http://schemas.microsoft.com/office/powerpoint/2010/main" val="3192964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CBAA2-03D9-3D2B-EBE8-0F437EAA3EA5}"/>
              </a:ext>
            </a:extLst>
          </p:cNvPr>
          <p:cNvSpPr>
            <a:spLocks noGrp="1"/>
          </p:cNvSpPr>
          <p:nvPr>
            <p:ph type="title"/>
          </p:nvPr>
        </p:nvSpPr>
        <p:spPr>
          <a:xfrm>
            <a:off x="207391" y="301659"/>
            <a:ext cx="11146410" cy="1389030"/>
          </a:xfrm>
        </p:spPr>
        <p:txBody>
          <a:bodyPr>
            <a:normAutofit fontScale="90000"/>
          </a:bodyPr>
          <a:lstStyle/>
          <a:p>
            <a:br>
              <a:rPr lang="en-US" dirty="0"/>
            </a:br>
            <a:r>
              <a:rPr lang="en-US" dirty="0"/>
              <a:t>Overall Conclusion</a:t>
            </a:r>
            <a:br>
              <a:rPr lang="en-US" dirty="0"/>
            </a:br>
            <a:endParaRPr lang="en-US" dirty="0"/>
          </a:p>
        </p:txBody>
      </p:sp>
      <p:sp>
        <p:nvSpPr>
          <p:cNvPr id="3" name="Content Placeholder 2">
            <a:extLst>
              <a:ext uri="{FF2B5EF4-FFF2-40B4-BE49-F238E27FC236}">
                <a16:creationId xmlns:a16="http://schemas.microsoft.com/office/drawing/2014/main" id="{0DFE95CA-E3E5-7AE1-9770-FE7E8DD00516}"/>
              </a:ext>
            </a:extLst>
          </p:cNvPr>
          <p:cNvSpPr>
            <a:spLocks noGrp="1"/>
          </p:cNvSpPr>
          <p:nvPr>
            <p:ph idx="1"/>
          </p:nvPr>
        </p:nvSpPr>
        <p:spPr>
          <a:xfrm>
            <a:off x="94268" y="1809946"/>
            <a:ext cx="12000322" cy="4367017"/>
          </a:xfrm>
        </p:spPr>
        <p:txBody>
          <a:bodyPr>
            <a:normAutofit/>
          </a:bodyPr>
          <a:lstStyle/>
          <a:p>
            <a:pPr marL="0" indent="0">
              <a:buNone/>
            </a:pPr>
            <a:r>
              <a:rPr lang="en-US" sz="2000" i="1" dirty="0"/>
              <a:t>"The Budget of a Nation Tells You What It Values. This One Tells You What It Owes."</a:t>
            </a:r>
            <a:endParaRPr lang="en-US" sz="2000" dirty="0"/>
          </a:p>
          <a:p>
            <a:pPr marL="0" indent="0">
              <a:buNone/>
            </a:pPr>
            <a:endParaRPr lang="en-US" sz="2000" dirty="0"/>
          </a:p>
          <a:p>
            <a:pPr marL="0" indent="0">
              <a:buNone/>
            </a:pPr>
            <a:r>
              <a:rPr lang="en-US" sz="2000" dirty="0"/>
              <a:t>Three questions. Three answers. One consistent story.</a:t>
            </a:r>
          </a:p>
          <a:p>
            <a:pPr marL="0" indent="0">
              <a:buNone/>
            </a:pPr>
            <a:r>
              <a:rPr lang="en-US" sz="2000" dirty="0"/>
              <a:t>Nigeria's 2026 budget is not a plan for development. It is a statement of accumulated obligations. Before a single road is built, a single teacher is hired, or a single clinic is stocked, 76 kobo of every naira the government earns is already committed to debt repayment. The remaining capacity to govern is squeezed further by a capital budget that contains ₦2.24 trillion in legacy contractor debts and ₦3.42 trillion in new loans that will generate tomorrow's debt service.</a:t>
            </a:r>
          </a:p>
          <a:p>
            <a:pPr marL="0" indent="0">
              <a:buNone/>
            </a:pPr>
            <a:endParaRPr lang="en-US" sz="2000" dirty="0"/>
          </a:p>
          <a:p>
            <a:pPr marL="0" indent="0">
              <a:buNone/>
            </a:pPr>
            <a:r>
              <a:rPr lang="en-US" sz="2000" dirty="0"/>
              <a:t>The healthcare budget technically passes its own legal test, but only when a ₦208 billion intelligence-sector facility is counted as a public health investment. Strip that single item, and Nigeria violates the law it wrote for itself.</a:t>
            </a:r>
          </a:p>
          <a:p>
            <a:pPr marL="0" indent="0">
              <a:buNone/>
            </a:pPr>
            <a:endParaRPr lang="en-US" sz="2000" dirty="0"/>
          </a:p>
          <a:p>
            <a:pPr marL="0" indent="0">
              <a:buNone/>
            </a:pPr>
            <a:endParaRPr lang="en-US" sz="2000" dirty="0"/>
          </a:p>
          <a:p>
            <a:endParaRPr lang="en-US" dirty="0"/>
          </a:p>
        </p:txBody>
      </p:sp>
    </p:spTree>
    <p:extLst>
      <p:ext uri="{BB962C8B-B14F-4D97-AF65-F5344CB8AC3E}">
        <p14:creationId xmlns:p14="http://schemas.microsoft.com/office/powerpoint/2010/main" val="68063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668A67-214D-B951-708A-5B8D4E20145B}"/>
              </a:ext>
            </a:extLst>
          </p:cNvPr>
          <p:cNvSpPr>
            <a:spLocks noGrp="1"/>
          </p:cNvSpPr>
          <p:nvPr>
            <p:ph idx="1"/>
          </p:nvPr>
        </p:nvSpPr>
        <p:spPr>
          <a:xfrm>
            <a:off x="1027522" y="2017337"/>
            <a:ext cx="9907570" cy="2253006"/>
          </a:xfrm>
        </p:spPr>
        <p:txBody>
          <a:bodyPr>
            <a:normAutofit/>
          </a:bodyPr>
          <a:lstStyle/>
          <a:p>
            <a:pPr marL="0" indent="0">
              <a:buNone/>
            </a:pPr>
            <a:r>
              <a:rPr lang="en-US" sz="5000" dirty="0"/>
              <a:t>              </a:t>
            </a:r>
          </a:p>
          <a:p>
            <a:pPr marL="0" indent="0">
              <a:buNone/>
            </a:pPr>
            <a:r>
              <a:rPr lang="en-US" sz="5000" dirty="0"/>
              <a:t>                       THANK YOU</a:t>
            </a:r>
          </a:p>
        </p:txBody>
      </p:sp>
    </p:spTree>
    <p:extLst>
      <p:ext uri="{BB962C8B-B14F-4D97-AF65-F5344CB8AC3E}">
        <p14:creationId xmlns:p14="http://schemas.microsoft.com/office/powerpoint/2010/main" val="25364162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1505</TotalTime>
  <Words>1354</Words>
  <Application>Microsoft Office PowerPoint</Application>
  <PresentationFormat>Widescreen</PresentationFormat>
  <Paragraphs>107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NIGERIA 2026 FEDERAL APPROPRIATION BUDGET</vt:lpstr>
      <vt:lpstr>PROJECT OVERVIEW</vt:lpstr>
      <vt:lpstr>Analytical Questions</vt:lpstr>
      <vt:lpstr>Question 1: Deficit &amp; Debt Burden</vt:lpstr>
      <vt:lpstr>PowerPoint Presentation</vt:lpstr>
      <vt:lpstr>PowerPoint Presentation</vt:lpstr>
      <vt:lpstr>Question 4 — The Capital Expenditure Illusion</vt:lpstr>
      <vt:lpstr>PowerPoint Presentation</vt:lpstr>
      <vt:lpstr>Question 5 — The Healthcare Compliance Test</vt:lpstr>
      <vt:lpstr>PowerPoint Presentation</vt:lpstr>
      <vt:lpstr>PowerPoint Presentation</vt:lpstr>
      <vt:lpstr>PowerPoint Presentation</vt:lpstr>
      <vt:lpstr> Overall 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Ibukunoluwa Owolabi</dc:creator>
  <cp:lastModifiedBy>Ibukunoluwa Owolabi</cp:lastModifiedBy>
  <cp:revision>3</cp:revision>
  <dcterms:created xsi:type="dcterms:W3CDTF">2026-05-13T19:03:31Z</dcterms:created>
  <dcterms:modified xsi:type="dcterms:W3CDTF">2026-05-14T20:36:29Z</dcterms:modified>
</cp:coreProperties>
</file>